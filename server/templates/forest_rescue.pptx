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28.png" ContentType="image/png"/>
  <Override PartName="/ppt/media/image7.jpeg" ContentType="image/jpeg"/>
  <Override PartName="/ppt/media/image27.png" ContentType="image/png"/>
  <Override PartName="/ppt/media/image26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5.jpeg" ContentType="image/jpeg"/>
  <Override PartName="/ppt/media/image13.png" ContentType="image/png"/>
  <Override PartName="/ppt/media/image14.png" ContentType="image/png"/>
  <Override PartName="/ppt/media/image1.jpeg" ContentType="image/jpeg"/>
  <Override PartName="/ppt/media/image10.png" ContentType="image/png"/>
  <Override PartName="/ppt/media/image32.png" ContentType="image/png"/>
  <Override PartName="/ppt/media/image25.png" ContentType="image/png"/>
  <Override PartName="/ppt/media/image37.jpeg" ContentType="image/jpeg"/>
  <Override PartName="/ppt/media/image33.png" ContentType="image/png"/>
  <Override PartName="/ppt/media/image35.jpeg" ContentType="image/jpeg"/>
  <Override PartName="/ppt/media/image12.png" ContentType="image/png"/>
  <Override PartName="/ppt/media/image11.png" ContentType="image/png"/>
  <Override PartName="/ppt/media/image36.jpeg" ContentType="image/jpeg"/>
  <Override PartName="/ppt/media/image40.png" ContentType="image/png"/>
  <Override PartName="/ppt/media/image41.png" ContentType="image/png"/>
  <Override PartName="/ppt/media/image30.png" ContentType="image/png"/>
  <Override PartName="/ppt/media/image34.jpeg" ContentType="image/jpeg"/>
  <Override PartName="/ppt/media/image39.gif" ContentType="image/gif"/>
  <Override PartName="/ppt/media/image42.png" ContentType="image/png"/>
  <Override PartName="/ppt/media/image3.png" ContentType="image/png"/>
  <Override PartName="/ppt/media/image38.jpeg" ContentType="image/jpeg"/>
  <Override PartName="/ppt/media/image31.png" ContentType="image/png"/>
  <Override PartName="/ppt/media/image43.png" ContentType="image/png"/>
  <Override PartName="/ppt/media/image6.gif" ContentType="image/gif"/>
  <Override PartName="/ppt/media/image9.png" ContentType="image/png"/>
  <Override PartName="/ppt/media/image18.png" ContentType="image/png"/>
  <Override PartName="/ppt/media/image2.jpeg" ContentType="image/jpeg"/>
  <Override PartName="/ppt/media/image20.png" ContentType="image/png"/>
  <Override PartName="/ppt/media/image5.gif" ContentType="image/gif"/>
  <Override PartName="/ppt/media/image8.png" ContentType="image/png"/>
  <Override PartName="/ppt/media/image17.png" ContentType="image/png"/>
  <Override PartName="/ppt/media/image29.png" ContentType="image/png"/>
  <Override PartName="/ppt/media/image4.gif" ContentType="image/gif"/>
  <Override PartName="/ppt/media/image16.png" ContentType="image/png"/>
  <Override PartName="/ppt/media/chimes.wav" ContentType="audio/x-wav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45E8B9-B5D0-4B88-8CA8-3B21602712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EF56B2-38C3-4349-A0A6-5A66674B5808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gif"/><Relationship Id="rId4" Type="http://schemas.openxmlformats.org/officeDocument/2006/relationships/image" Target="../media/image5.gif"/><Relationship Id="rId5" Type="http://schemas.openxmlformats.org/officeDocument/2006/relationships/image" Target="../media/image6.gif"/><Relationship Id="rId6" Type="http://schemas.openxmlformats.org/officeDocument/2006/relationships/image" Target="../media/image6.gif"/><Relationship Id="rId7" Type="http://schemas.openxmlformats.org/officeDocument/2006/relationships/audio" Target="../media/chimes.wav"/><Relationship Id="rId8" Type="http://schemas.openxmlformats.org/officeDocument/2006/relationships/audio" Target="../media/chimes.wav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31.png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12.png"/><Relationship Id="rId6" Type="http://schemas.openxmlformats.org/officeDocument/2006/relationships/image" Target="../media/image33.png"/><Relationship Id="rId7" Type="http://schemas.openxmlformats.org/officeDocument/2006/relationships/image" Target="../media/image33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31.png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12.png"/><Relationship Id="rId6" Type="http://schemas.openxmlformats.org/officeDocument/2006/relationships/image" Target="../media/image33.png"/><Relationship Id="rId7" Type="http://schemas.openxmlformats.org/officeDocument/2006/relationships/image" Target="../media/image33.png"/><Relationship Id="rId8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31.png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12.png"/><Relationship Id="rId6" Type="http://schemas.openxmlformats.org/officeDocument/2006/relationships/image" Target="../media/image33.png"/><Relationship Id="rId7" Type="http://schemas.openxmlformats.org/officeDocument/2006/relationships/image" Target="../media/image33.png"/><Relationship Id="rId8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31.png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12.png"/><Relationship Id="rId6" Type="http://schemas.openxmlformats.org/officeDocument/2006/relationships/image" Target="../media/image33.png"/><Relationship Id="rId7" Type="http://schemas.openxmlformats.org/officeDocument/2006/relationships/image" Target="../media/image33.png"/><Relationship Id="rId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image" Target="../media/image37.jpeg"/><Relationship Id="rId3" Type="http://schemas.openxmlformats.org/officeDocument/2006/relationships/image" Target="../media/image37.jpe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image" Target="../media/image39.gif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3" descr="25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7" name="WordArt 4"/>
          <p:cNvSpPr txBox="1"/>
          <p:nvPr/>
        </p:nvSpPr>
        <p:spPr>
          <a:xfrm>
            <a:off x="2590920" y="1600200"/>
            <a:ext cx="5638680" cy="1523880"/>
          </a:xfrm>
          <a:prstGeom prst="rect">
            <a:avLst/>
          </a:prstGeom>
        </p:spPr>
        <p:txBody>
          <a:bodyPr wrap="none" lIns="90000" rIns="90000" tIns="46800" bIns="46800" anchor="t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1" strike="noStrike">
                <a:ln w="12600">
                  <a:solidFill>
                    <a:srgbClr val="ff0000"/>
                  </a:solidFill>
                  <a:miter/>
                </a:ln>
                <a:solidFill>
                  <a:srgbClr val="0000ff"/>
                </a:solidFill>
                <a:effectLst>
                  <a:outerShdw dist="17819" dir="2700000" blurRad="0" rotWithShape="0">
                    <a:srgbClr val="c0c0c0">
                      <a:alpha val="50000"/>
                    </a:srgbClr>
                  </a:outerShdw>
                </a:effectLst>
                <a:latin typeface=".VnAristote"/>
              </a:rPr>
              <a:t>NhiÖt liÖt chµo mõng </a:t>
            </a:r>
            <a:endParaRPr b="0" lang="en-US" sz="1800" spc="1" strike="noStrike">
              <a:ln w="12600">
                <a:solidFill>
                  <a:srgbClr val="ff0000"/>
                </a:solidFill>
                <a:miter/>
              </a:ln>
              <a:solidFill>
                <a:srgbClr val="0000ff"/>
              </a:solidFill>
              <a:effectLst>
                <a:outerShdw dist="17819" dir="2700000" blurRad="0" rotWithShape="0">
                  <a:srgbClr val="c0c0c0">
                    <a:alpha val="50000"/>
                  </a:srgbClr>
                </a:outerShdw>
              </a:effectLst>
              <a:latin typeface=".VnAristote"/>
              <a:ea typeface=".VnAristote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1" strike="noStrike">
                <a:ln w="12600">
                  <a:solidFill>
                    <a:srgbClr val="ff0000"/>
                  </a:solidFill>
                  <a:miter/>
                </a:ln>
                <a:solidFill>
                  <a:srgbClr val="0000ff"/>
                </a:solidFill>
                <a:effectLst>
                  <a:outerShdw dist="17819" dir="2700000" blurRad="0" rotWithShape="0">
                    <a:srgbClr val="c0c0c0">
                      <a:alpha val="50000"/>
                    </a:srgbClr>
                  </a:outerShdw>
                </a:effectLst>
                <a:latin typeface=".VnAristote"/>
              </a:rPr>
              <a:t>c¸c thÇy c« gi¸o</a:t>
            </a:r>
            <a:endParaRPr b="0" lang="en-US" sz="1800" spc="1" strike="noStrike">
              <a:ln w="12600">
                <a:solidFill>
                  <a:srgbClr val="ff0000"/>
                </a:solidFill>
                <a:miter/>
              </a:ln>
              <a:solidFill>
                <a:srgbClr val="0000ff"/>
              </a:solidFill>
              <a:effectLst>
                <a:outerShdw dist="17819" dir="2700000" blurRad="0" rotWithShape="0">
                  <a:srgbClr val="c0c0c0">
                    <a:alpha val="50000"/>
                  </a:srgbClr>
                </a:outerShdw>
              </a:effectLst>
              <a:latin typeface=".VnAristote"/>
              <a:ea typeface=".VnAristote"/>
            </a:endParaRPr>
          </a:p>
        </p:txBody>
      </p:sp>
      <p:pic>
        <p:nvPicPr>
          <p:cNvPr id="8" name="WordArt 5" descr=""/>
          <p:cNvPicPr/>
          <p:nvPr/>
        </p:nvPicPr>
        <p:blipFill>
          <a:blip r:embed="rId2"/>
          <a:stretch/>
        </p:blipFill>
        <p:spPr>
          <a:xfrm>
            <a:off x="3303720" y="3438360"/>
            <a:ext cx="4352760" cy="621000"/>
          </a:xfrm>
          <a:prstGeom prst="rect">
            <a:avLst/>
          </a:prstGeom>
          <a:ln w="0">
            <a:noFill/>
          </a:ln>
        </p:spPr>
      </p:pic>
      <p:sp>
        <p:nvSpPr>
          <p:cNvPr id="9" name="WordArt 6"/>
          <p:cNvSpPr txBox="1"/>
          <p:nvPr/>
        </p:nvSpPr>
        <p:spPr>
          <a:xfrm>
            <a:off x="3195720" y="4449600"/>
            <a:ext cx="4286160" cy="694080"/>
          </a:xfrm>
          <a:prstGeom prst="rect">
            <a:avLst/>
          </a:prstGeom>
        </p:spPr>
        <p:txBody>
          <a:bodyPr wrap="none" lIns="90000" rIns="90000" tIns="46800" bIns="46800" anchor="t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1" strike="noStrike">
                <a:ln w="19080">
                  <a:solidFill>
                    <a:srgbClr val="99ccff"/>
                  </a:solidFill>
                  <a:miter/>
                </a:ln>
                <a:solidFill>
                  <a:srgbClr val="ff0000"/>
                </a:solidFill>
                <a:effectLst>
                  <a:outerShdw dist="17819" dir="2700000" blurRad="0" rotWithShape="0">
                    <a:srgbClr val="990000"/>
                  </a:outerShdw>
                </a:effectLst>
                <a:latin typeface="Times New Roman"/>
              </a:rPr>
              <a:t>Môn Toán</a:t>
            </a:r>
            <a:endParaRPr b="1" lang="en-US" sz="2000" spc="1" strike="noStrike">
              <a:ln w="19080">
                <a:solidFill>
                  <a:srgbClr val="99ccff"/>
                </a:solidFill>
                <a:miter/>
              </a:ln>
              <a:solidFill>
                <a:srgbClr val="ff0000"/>
              </a:solidFill>
              <a:effectLst>
                <a:outerShdw dist="17819" dir="2700000" blurRad="0" rotWithShape="0">
                  <a:srgbClr val="990000"/>
                </a:outerShdw>
              </a:effectLst>
              <a:latin typeface="Times New Roman"/>
              <a:ea typeface="Times New Roman"/>
            </a:endParaRPr>
          </a:p>
        </p:txBody>
      </p:sp>
      <p:pic>
        <p:nvPicPr>
          <p:cNvPr id="10" name="Picture 7" descr="21"/>
          <p:cNvPicPr/>
          <p:nvPr/>
        </p:nvPicPr>
        <p:blipFill>
          <a:blip r:embed="rId3"/>
          <a:stretch/>
        </p:blipFill>
        <p:spPr>
          <a:xfrm>
            <a:off x="0" y="4640400"/>
            <a:ext cx="2362320" cy="2217600"/>
          </a:xfrm>
          <a:prstGeom prst="rect">
            <a:avLst/>
          </a:prstGeom>
          <a:ln w="0">
            <a:noFill/>
          </a:ln>
        </p:spPr>
      </p:pic>
      <p:pic>
        <p:nvPicPr>
          <p:cNvPr id="11" name="Picture 8" descr="star4"/>
          <p:cNvPicPr/>
          <p:nvPr/>
        </p:nvPicPr>
        <p:blipFill>
          <a:blip r:embed="rId4"/>
          <a:stretch/>
        </p:blipFill>
        <p:spPr>
          <a:xfrm>
            <a:off x="7696080" y="4443480"/>
            <a:ext cx="1600200" cy="1143000"/>
          </a:xfrm>
          <a:prstGeom prst="rect">
            <a:avLst/>
          </a:prstGeom>
          <a:ln w="0">
            <a:noFill/>
          </a:ln>
        </p:spPr>
      </p:pic>
      <p:pic>
        <p:nvPicPr>
          <p:cNvPr id="12" name="Picture 9" descr="star1"/>
          <p:cNvPicPr/>
          <p:nvPr/>
        </p:nvPicPr>
        <p:blipFill>
          <a:blip r:embed="rId5"/>
          <a:stretch/>
        </p:blipFill>
        <p:spPr>
          <a:xfrm>
            <a:off x="457200" y="0"/>
            <a:ext cx="1384200" cy="1447920"/>
          </a:xfrm>
          <a:prstGeom prst="rect">
            <a:avLst/>
          </a:prstGeom>
          <a:ln w="0">
            <a:noFill/>
          </a:ln>
        </p:spPr>
      </p:pic>
      <p:pic>
        <p:nvPicPr>
          <p:cNvPr id="13" name="Picture 10" descr="star1"/>
          <p:cNvPicPr/>
          <p:nvPr/>
        </p:nvPicPr>
        <p:blipFill>
          <a:blip r:embed="rId6"/>
          <a:stretch/>
        </p:blipFill>
        <p:spPr>
          <a:xfrm>
            <a:off x="7467480" y="0"/>
            <a:ext cx="1432080" cy="1447920"/>
          </a:xfrm>
          <a:prstGeom prst="rect">
            <a:avLst/>
          </a:prstGeom>
          <a:ln w="0">
            <a:noFill/>
          </a:ln>
        </p:spPr>
      </p:pic>
      <p:sp>
        <p:nvSpPr>
          <p:cNvPr id="14" name="TextBox 1"/>
          <p:cNvSpPr/>
          <p:nvPr/>
        </p:nvSpPr>
        <p:spPr>
          <a:xfrm>
            <a:off x="3422520" y="5772240"/>
            <a:ext cx="56390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0000ff"/>
                </a:solidFill>
                <a:latin typeface="Times New Roman"/>
                <a:ea typeface="Times New Roman"/>
              </a:rPr>
              <a:t>Giáo viên: Lưu Thanh Hằng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audio isNarration="0">
                                      <p:cMediaNode showWhenStopped="1">
                                        <p:cTn/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audio isNarration="0">
                                      <p:cMediaNode showWhenStopped="1">
                                        <p:cTn/>
                                        <p:tgtEl>
                                          <p:sndTgt r:embed="rId8" name="chimes.wav"/>
                                        </p:tgtEl>
                                      </p:cMediaNode>
                                    </p:audio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nodeType="withEffect" fill="hold" presetClass="emph" presetID="23" repeatCount="indefinite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2.9411765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2.9411765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2.9411765" s="0" l="0"/>
                                      </p:by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nodeType="withEffect" fill="hold" presetClass="emph" presetID="21" repeatCount="indefinite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G:\TRO CHOI POWERPOINT\Giai cuu rung xanh\Free-vector-cartoon-natural.jpg"/>
          <p:cNvPicPr/>
          <p:nvPr/>
        </p:nvPicPr>
        <p:blipFill>
          <a:blip r:embed="rId1"/>
          <a:stretch/>
        </p:blipFill>
        <p:spPr>
          <a:xfrm>
            <a:off x="0" y="-330120"/>
            <a:ext cx="9144000" cy="7188120"/>
          </a:xfrm>
          <a:prstGeom prst="rect">
            <a:avLst/>
          </a:prstGeom>
          <a:ln w="0">
            <a:noFill/>
          </a:ln>
        </p:spPr>
      </p:pic>
      <p:pic>
        <p:nvPicPr>
          <p:cNvPr id="16" name="Picture 2" descr="C:\Users\ADMIN\Desktop\Giai cuu con vat\depositphotos_8033217-stock-illustration-cartoon-hunter-with-a-blunderbuss.jpg"/>
          <p:cNvPicPr/>
          <p:nvPr/>
        </p:nvPicPr>
        <p:blipFill>
          <a:blip r:embed="rId2"/>
          <a:stretch/>
        </p:blipFill>
        <p:spPr>
          <a:xfrm flipH="1" rot="20956800">
            <a:off x="100800" y="3500280"/>
            <a:ext cx="2222640" cy="386928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6" descr="Hình ảnh có liên quan"/>
          <p:cNvPicPr/>
          <p:nvPr/>
        </p:nvPicPr>
        <p:blipFill>
          <a:blip r:embed="rId3"/>
          <a:stretch/>
        </p:blipFill>
        <p:spPr>
          <a:xfrm>
            <a:off x="5543640" y="198360"/>
            <a:ext cx="4209840" cy="5612040"/>
          </a:xfrm>
          <a:prstGeom prst="rect">
            <a:avLst/>
          </a:prstGeom>
          <a:ln w="0">
            <a:noFill/>
          </a:ln>
        </p:spPr>
      </p:pic>
      <p:pic>
        <p:nvPicPr>
          <p:cNvPr id="18" name="Picture 2" descr="C:\Users\ADMIN\Desktop\Giai cuu con vat\historieta-linda-de-los-ciervos-47108548.jpg"/>
          <p:cNvPicPr/>
          <p:nvPr/>
        </p:nvPicPr>
        <p:blipFill>
          <a:blip r:embed="rId4"/>
          <a:stretch/>
        </p:blipFill>
        <p:spPr>
          <a:xfrm rot="21235800">
            <a:off x="2045880" y="2817360"/>
            <a:ext cx="781200" cy="971640"/>
          </a:xfrm>
          <a:prstGeom prst="rect">
            <a:avLst/>
          </a:prstGeom>
          <a:ln w="0">
            <a:noFill/>
          </a:ln>
        </p:spPr>
      </p:pic>
      <p:pic>
        <p:nvPicPr>
          <p:cNvPr id="19" name="Picture 9" descr="C:\Users\ADMIN\Desktop\Giai cuu con vat\dessin-animé-mignon-de-tigre-43198987.jpg"/>
          <p:cNvPicPr/>
          <p:nvPr/>
        </p:nvPicPr>
        <p:blipFill>
          <a:blip r:embed="rId5"/>
          <a:stretch/>
        </p:blipFill>
        <p:spPr>
          <a:xfrm>
            <a:off x="4648320" y="4546440"/>
            <a:ext cx="2200320" cy="2832120"/>
          </a:xfrm>
          <a:prstGeom prst="rect">
            <a:avLst/>
          </a:prstGeom>
          <a:ln w="0">
            <a:noFill/>
          </a:ln>
        </p:spPr>
      </p:pic>
      <p:pic>
        <p:nvPicPr>
          <p:cNvPr id="20" name="Picture 4" descr="Kết quả hình ảnh cho elephant cartoon"/>
          <p:cNvPicPr/>
          <p:nvPr/>
        </p:nvPicPr>
        <p:blipFill>
          <a:blip r:embed="rId6"/>
          <a:stretch/>
        </p:blipFill>
        <p:spPr>
          <a:xfrm>
            <a:off x="5715000" y="2314440"/>
            <a:ext cx="3446640" cy="5483520"/>
          </a:xfrm>
          <a:prstGeom prst="rect">
            <a:avLst/>
          </a:prstGeom>
          <a:ln w="0">
            <a:noFill/>
          </a:ln>
        </p:spPr>
      </p:pic>
      <p:pic>
        <p:nvPicPr>
          <p:cNvPr id="21" name="Picture 10" descr="C:\Users\ADMIN\Desktop\Tai nguyen thiet ke tro choi\Bảng gỗ\images.jpg"/>
          <p:cNvPicPr/>
          <p:nvPr/>
        </p:nvPicPr>
        <p:blipFill>
          <a:blip r:embed="rId7"/>
          <a:stretch/>
        </p:blipFill>
        <p:spPr>
          <a:xfrm>
            <a:off x="2665440" y="-950760"/>
            <a:ext cx="3506760" cy="3571560"/>
          </a:xfrm>
          <a:prstGeom prst="rect">
            <a:avLst/>
          </a:prstGeom>
          <a:ln w="0">
            <a:noFill/>
          </a:ln>
        </p:spPr>
      </p:pic>
      <p:sp>
        <p:nvSpPr>
          <p:cNvPr id="22" name="TextBox 16"/>
          <p:cNvSpPr/>
          <p:nvPr/>
        </p:nvSpPr>
        <p:spPr>
          <a:xfrm>
            <a:off x="3089880" y="990720"/>
            <a:ext cx="268776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008000"/>
                </a:solidFill>
                <a:latin typeface="Arial"/>
                <a:ea typeface="Arial"/>
              </a:rPr>
              <a:t>GIẢI CỨU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008000"/>
                </a:solidFill>
                <a:latin typeface="Arial"/>
                <a:ea typeface="Arial"/>
              </a:rPr>
              <a:t>RỪNG XANH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Picture 11" descr="C:\Users\ADMIN\Desktop\Tai nguyen thiet ke tro choi\Angry birds epic birds\1505573783630 (2).png"/>
          <p:cNvPicPr/>
          <p:nvPr/>
        </p:nvPicPr>
        <p:blipFill>
          <a:blip r:embed="rId8"/>
          <a:stretch/>
        </p:blipFill>
        <p:spPr>
          <a:xfrm>
            <a:off x="3886200" y="2620800"/>
            <a:ext cx="1260360" cy="102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nodeType="clickEffect" fill="hold">
                      <p:stCondLst>
                        <p:cond delay="0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2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G:\TRO CHOI POWERPOINT\Giai cuu rung xanh\floresta.jpg"/>
          <p:cNvPicPr/>
          <p:nvPr/>
        </p:nvPicPr>
        <p:blipFill>
          <a:blip r:embed="rId1"/>
          <a:stretch/>
        </p:blipFill>
        <p:spPr>
          <a:xfrm>
            <a:off x="-1371600" y="-838080"/>
            <a:ext cx="10515600" cy="8026200"/>
          </a:xfrm>
          <a:prstGeom prst="rect">
            <a:avLst/>
          </a:prstGeom>
          <a:ln w="0">
            <a:noFill/>
          </a:ln>
        </p:spPr>
      </p:pic>
      <p:pic>
        <p:nvPicPr>
          <p:cNvPr id="25" name="Picture 2" descr="C:\Users\ADMIN\Desktop\Giai cuu con vat\depositphotos_8033217-stock-illustration-cartoon-hunter-with-a-blunderbuss.jpg"/>
          <p:cNvPicPr/>
          <p:nvPr/>
        </p:nvPicPr>
        <p:blipFill>
          <a:blip r:embed="rId2"/>
          <a:stretch/>
        </p:blipFill>
        <p:spPr>
          <a:xfrm>
            <a:off x="228600" y="2789280"/>
            <a:ext cx="819000" cy="1314360"/>
          </a:xfrm>
          <a:prstGeom prst="rect">
            <a:avLst/>
          </a:prstGeom>
          <a:ln w="0">
            <a:noFill/>
          </a:ln>
        </p:spPr>
      </p:pic>
      <p:pic>
        <p:nvPicPr>
          <p:cNvPr id="26" name="Picture 5" descr="C:\Users\ADMIN\Desktop\Giai cuu con vat\860b43d1f72858179212c60650ccfc01.jpg"/>
          <p:cNvPicPr/>
          <p:nvPr/>
        </p:nvPicPr>
        <p:blipFill>
          <a:blip r:embed="rId3"/>
          <a:stretch/>
        </p:blipFill>
        <p:spPr>
          <a:xfrm>
            <a:off x="2514600" y="4532400"/>
            <a:ext cx="1006560" cy="1704960"/>
          </a:xfrm>
          <a:prstGeom prst="rect">
            <a:avLst/>
          </a:prstGeom>
          <a:ln w="0">
            <a:noFill/>
          </a:ln>
        </p:spPr>
      </p:pic>
      <p:pic>
        <p:nvPicPr>
          <p:cNvPr id="27" name="Picture 6" descr="C:\Users\ADMIN\Desktop\Giai cuu con vat\Baby-Elephant-Clipart_7.png.1379429044053.png"/>
          <p:cNvPicPr/>
          <p:nvPr/>
        </p:nvPicPr>
        <p:blipFill>
          <a:blip r:embed="rId4"/>
          <a:stretch/>
        </p:blipFill>
        <p:spPr>
          <a:xfrm>
            <a:off x="4272120" y="4211640"/>
            <a:ext cx="1747800" cy="2330280"/>
          </a:xfrm>
          <a:prstGeom prst="rect">
            <a:avLst/>
          </a:prstGeom>
          <a:ln w="0">
            <a:noFill/>
          </a:ln>
        </p:spPr>
      </p:pic>
      <p:pic>
        <p:nvPicPr>
          <p:cNvPr id="28" name="Picture 8" descr="C:\Users\ADMIN\Desktop\Giai cuu con vat\clipbear4.gif"/>
          <p:cNvPicPr/>
          <p:nvPr/>
        </p:nvPicPr>
        <p:blipFill>
          <a:blip r:embed="rId5"/>
          <a:stretch/>
        </p:blipFill>
        <p:spPr>
          <a:xfrm>
            <a:off x="6705720" y="2933640"/>
            <a:ext cx="1981080" cy="3070440"/>
          </a:xfrm>
          <a:prstGeom prst="rect">
            <a:avLst/>
          </a:prstGeom>
          <a:ln w="0">
            <a:noFill/>
          </a:ln>
        </p:spPr>
      </p:pic>
      <p:pic>
        <p:nvPicPr>
          <p:cNvPr id="29" name="Picture 9" descr="C:\Users\ADMIN\Desktop\Giai cuu con vat\cute-deer-cartoon-illustration-47171319.jpg"/>
          <p:cNvPicPr/>
          <p:nvPr/>
        </p:nvPicPr>
        <p:blipFill>
          <a:blip r:embed="rId6"/>
          <a:stretch/>
        </p:blipFill>
        <p:spPr>
          <a:xfrm>
            <a:off x="630360" y="4319640"/>
            <a:ext cx="699840" cy="1838160"/>
          </a:xfrm>
          <a:prstGeom prst="rect">
            <a:avLst/>
          </a:prstGeom>
          <a:ln w="0">
            <a:noFill/>
          </a:ln>
        </p:spPr>
      </p:pic>
      <p:sp>
        <p:nvSpPr>
          <p:cNvPr id="30" name="AutoShape 11"/>
          <p:cNvSpPr/>
          <p:nvPr/>
        </p:nvSpPr>
        <p:spPr>
          <a:xfrm>
            <a:off x="155520" y="-127080"/>
            <a:ext cx="3049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Picture 13" descr="C:\Users\ADMIN\Desktop\Picture1 (2).png"/>
          <p:cNvPicPr/>
          <p:nvPr/>
        </p:nvPicPr>
        <p:blipFill>
          <a:blip r:embed="rId7"/>
          <a:stretch/>
        </p:blipFill>
        <p:spPr>
          <a:xfrm>
            <a:off x="2057400" y="4397400"/>
            <a:ext cx="1758960" cy="2043000"/>
          </a:xfrm>
          <a:prstGeom prst="rect">
            <a:avLst/>
          </a:prstGeom>
          <a:ln w="0">
            <a:noFill/>
          </a:ln>
        </p:spPr>
      </p:pic>
      <p:pic>
        <p:nvPicPr>
          <p:cNvPr id="32" name="Picture 13" descr="C:\Users\ADMIN\Desktop\Picture1 (2).png"/>
          <p:cNvPicPr/>
          <p:nvPr/>
        </p:nvPicPr>
        <p:blipFill>
          <a:blip r:embed="rId8"/>
          <a:stretch/>
        </p:blipFill>
        <p:spPr>
          <a:xfrm>
            <a:off x="4133880" y="4408560"/>
            <a:ext cx="2114640" cy="2208240"/>
          </a:xfrm>
          <a:prstGeom prst="rect">
            <a:avLst/>
          </a:prstGeom>
          <a:ln w="0">
            <a:noFill/>
          </a:ln>
        </p:spPr>
      </p:pic>
      <p:pic>
        <p:nvPicPr>
          <p:cNvPr id="33" name="Picture 13" descr="C:\Users\ADMIN\Desktop\Picture1 (2).png"/>
          <p:cNvPicPr/>
          <p:nvPr/>
        </p:nvPicPr>
        <p:blipFill>
          <a:blip r:embed="rId9"/>
          <a:stretch/>
        </p:blipFill>
        <p:spPr>
          <a:xfrm>
            <a:off x="6629400" y="3230640"/>
            <a:ext cx="2114640" cy="3108240"/>
          </a:xfrm>
          <a:prstGeom prst="rect">
            <a:avLst/>
          </a:prstGeom>
          <a:ln w="0">
            <a:noFill/>
          </a:ln>
        </p:spPr>
      </p:pic>
      <p:pic>
        <p:nvPicPr>
          <p:cNvPr id="34" name="Picture 13" descr="C:\Users\ADMIN\Desktop\Picture1 (2).png"/>
          <p:cNvPicPr/>
          <p:nvPr/>
        </p:nvPicPr>
        <p:blipFill>
          <a:blip r:embed="rId10"/>
          <a:stretch/>
        </p:blipFill>
        <p:spPr>
          <a:xfrm>
            <a:off x="249120" y="4408560"/>
            <a:ext cx="1319400" cy="1930320"/>
          </a:xfrm>
          <a:prstGeom prst="rect">
            <a:avLst/>
          </a:prstGeom>
          <a:ln w="0">
            <a:noFill/>
          </a:ln>
        </p:spPr>
      </p:pic>
      <p:pic>
        <p:nvPicPr>
          <p:cNvPr id="35" name="Picture 2" descr="C:\Users\ADMIN\Desktop\Giai cuu con vat\historieta-linda-de-los-ciervos-47108548.jpg"/>
          <p:cNvPicPr/>
          <p:nvPr/>
        </p:nvPicPr>
        <p:blipFill>
          <a:blip r:embed="rId11"/>
          <a:stretch/>
        </p:blipFill>
        <p:spPr>
          <a:xfrm rot="20829000">
            <a:off x="441000" y="4892760"/>
            <a:ext cx="1271520" cy="1582560"/>
          </a:xfrm>
          <a:prstGeom prst="rect">
            <a:avLst/>
          </a:prstGeom>
          <a:ln w="0">
            <a:noFill/>
          </a:ln>
        </p:spPr>
      </p:pic>
      <p:pic>
        <p:nvPicPr>
          <p:cNvPr id="36" name="Picture 4" descr="C:\Users\ADMIN\Desktop\Giai cuu con vat\dessin-animé-mignon-de-tigre-43198987.jpg"/>
          <p:cNvPicPr/>
          <p:nvPr/>
        </p:nvPicPr>
        <p:blipFill>
          <a:blip r:embed="rId12"/>
          <a:stretch/>
        </p:blipFill>
        <p:spPr>
          <a:xfrm>
            <a:off x="2583000" y="4757760"/>
            <a:ext cx="1082520" cy="1392120"/>
          </a:xfrm>
          <a:prstGeom prst="rect">
            <a:avLst/>
          </a:prstGeom>
          <a:ln w="0">
            <a:noFill/>
          </a:ln>
        </p:spPr>
      </p:pic>
      <p:pic>
        <p:nvPicPr>
          <p:cNvPr id="37" name="Picture 46" descr="C:\Users\ADMIN\Desktop\Giai cuu con vat\elephant-cartoon-clip-art.png"/>
          <p:cNvPicPr/>
          <p:nvPr/>
        </p:nvPicPr>
        <p:blipFill>
          <a:blip r:embed="rId13"/>
          <a:stretch/>
        </p:blipFill>
        <p:spPr>
          <a:xfrm>
            <a:off x="4178160" y="4103640"/>
            <a:ext cx="1935360" cy="2529000"/>
          </a:xfrm>
          <a:prstGeom prst="rect">
            <a:avLst/>
          </a:prstGeom>
          <a:ln w="0">
            <a:noFill/>
          </a:ln>
        </p:spPr>
      </p:pic>
      <p:pic>
        <p:nvPicPr>
          <p:cNvPr id="38" name="Picture 47" descr="C:\Users\ADMIN\Desktop\Giai cuu con vat\bear  mother and baby cartoon image 5.png"/>
          <p:cNvPicPr/>
          <p:nvPr/>
        </p:nvPicPr>
        <p:blipFill>
          <a:blip r:embed="rId14"/>
          <a:stretch/>
        </p:blipFill>
        <p:spPr>
          <a:xfrm>
            <a:off x="6337440" y="3816360"/>
            <a:ext cx="2806560" cy="374184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48" descr="C:\Users\ADMIN\Desktop\vector-fruits-cartoon-icons (2).jpg"/>
          <p:cNvPicPr/>
          <p:nvPr/>
        </p:nvPicPr>
        <p:blipFill>
          <a:blip r:embed="rId15"/>
          <a:stretch/>
        </p:blipFill>
        <p:spPr>
          <a:xfrm>
            <a:off x="326880" y="-57240"/>
            <a:ext cx="623880" cy="752400"/>
          </a:xfrm>
          <a:prstGeom prst="rect">
            <a:avLst/>
          </a:prstGeom>
          <a:ln w="0">
            <a:noFill/>
          </a:ln>
        </p:spPr>
      </p:pic>
      <p:sp>
        <p:nvSpPr>
          <p:cNvPr id="40" name="Explosion 2 49"/>
          <p:cNvSpPr/>
          <p:nvPr/>
        </p:nvSpPr>
        <p:spPr>
          <a:xfrm rot="1363800">
            <a:off x="193320" y="2425680"/>
            <a:ext cx="1003320" cy="949320"/>
          </a:xfrm>
          <a:prstGeom prst="irregularSeal2">
            <a:avLst/>
          </a:prstGeom>
          <a:solidFill>
            <a:srgbClr val="ffff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50"/>
          <p:cNvSpPr/>
          <p:nvPr/>
        </p:nvSpPr>
        <p:spPr>
          <a:xfrm rot="559800">
            <a:off x="361800" y="2858760"/>
            <a:ext cx="11592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0000"/>
                </a:solidFill>
                <a:latin typeface="Comic Sans MS"/>
              </a:rPr>
              <a:t>POW!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2" descr="C:\Users\ADMIN\Desktop\Giai cuu con vat\depositphotos_8033217-stock-illustration-cartoon-hunter-with-a-blunderbuss.jpg"/>
          <p:cNvPicPr/>
          <p:nvPr/>
        </p:nvPicPr>
        <p:blipFill>
          <a:blip r:embed="rId16"/>
          <a:stretch/>
        </p:blipFill>
        <p:spPr>
          <a:xfrm flipH="1" rot="15844800">
            <a:off x="236520" y="3372840"/>
            <a:ext cx="1092240" cy="986040"/>
          </a:xfrm>
          <a:prstGeom prst="rect">
            <a:avLst/>
          </a:prstGeom>
          <a:ln w="0">
            <a:noFill/>
          </a:ln>
        </p:spPr>
      </p:pic>
      <p:pic>
        <p:nvPicPr>
          <p:cNvPr id="43" name="Picture 52" descr="C:\Users\ADMIN\Desktop\monkey_drawing_branch_hang_54278_2048x2048 (2).jpg"/>
          <p:cNvPicPr/>
          <p:nvPr/>
        </p:nvPicPr>
        <p:blipFill>
          <a:blip r:embed="rId17"/>
          <a:stretch/>
        </p:blipFill>
        <p:spPr>
          <a:xfrm>
            <a:off x="-119160" y="0"/>
            <a:ext cx="1322640" cy="8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nodeType="clickEffect" fill="hold">
                      <p:stCondLst>
                        <p:cond delay="0"/>
                      </p:stCondLst>
                      <p:childTnLst>
                        <p:par>
                          <p:cTn id="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withEffect" fill="hold" presetClass="emph" presetID="32" repeatCount="indefinite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2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4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85" restart="whenNotActive" nodeType="interactiveSeq" fill="hold">
                <p:stCondLst>
                  <p:cond evt="onClick">
                    <p:tgtEl>
                      <p:spTgt spid="34"/>
                    </p:tgtEl>
                  </p:cond>
                </p:stCondLst>
                <p:childTnLst>
                  <p:par>
                    <p:cTn id="86" nodeType="clickEffect" fill="hold">
                      <p:stCondLst>
                        <p:cond evt="onClick">
                          <p:tgtEl>
                            <p:spTgt spid="34"/>
                          </p:tgtEl>
                        </p:cond>
                      </p:stCondLst>
                      <p:childTnLst>
                        <p:par>
                          <p:cTn id="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nodeType="withEffect" fill="hold" presetClass="emph" presetID="32" repeatCount="indefinite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8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9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0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1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006 -4.44444E-006 L -0.23056 0.00186 E">
                                      <p:cBhvr>
                                        <p:cTn id="103" dur="3000" fill="hold"/>
                                        <p:tgtEl>
                                          <p:spTgt spid="3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04" restart="whenNotActive" nodeType="interactiveSeq" fill="hold">
                <p:stCondLst>
                  <p:cond evt="onClick">
                    <p:tgtEl>
                      <p:spTgt spid="31"/>
                    </p:tgtEl>
                  </p:cond>
                </p:stCondLst>
                <p:childTnLst>
                  <p:par>
                    <p:cTn id="105" nodeType="clickEffect" fill="hold">
                      <p:stCondLst>
                        <p:cond evt="onClick">
                          <p:tgtEl>
                            <p:spTgt spid="31"/>
                          </p:tgtEl>
                        </p:cond>
                      </p:stCondLst>
                      <p:childTnLst>
                        <p:par>
                          <p:cTn id="1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nodeType="withEffect" fill="hold" presetClass="emph" presetID="32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006 2.80913E-006 L -0.50833 0.01079 E">
                                      <p:cBhvr>
                                        <p:cTn id="122" dur="300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23" restart="whenNotActive" nodeType="interactiveSeq" fill="hold">
                <p:stCondLst>
                  <p:cond evt="onClick">
                    <p:tgtEl>
                      <p:spTgt spid="25"/>
                    </p:tgtEl>
                  </p:cond>
                </p:stCondLst>
                <p:childTnLst>
                  <p:par>
                    <p:cTn id="124" nodeType="clickEffect" fill="hold">
                      <p:stCondLst>
                        <p:cond evt="onClick">
                          <p:tgtEl>
                            <p:spTgt spid="25"/>
                          </p:tgtEl>
                        </p:cond>
                      </p:stCondLst>
                      <p:childTnLst>
                        <p:par>
                          <p:cTn id="1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006 2.96296E-006 L -0.00312 0.37407 E">
                                      <p:cBhvr>
                                        <p:cTn id="129" dur="1000" fill="hold"/>
                                        <p:tgtEl>
                                          <p:spTgt spid="3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nodeType="withEffect" fill="hold" presetClass="entr" presetID="9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9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nodeType="withEffect" fill="hold" presetClass="exit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nodeType="withEffect" fill="hold" presetClass="exit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nodeType="withEffect" fill="hold" presetClass="exit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47" restart="whenNotActive" nodeType="interactiveSeq" fill="hold">
                <p:stCondLst>
                  <p:cond evt="onClick">
                    <p:tgtEl>
                      <p:spTgt spid="32"/>
                    </p:tgtEl>
                  </p:cond>
                </p:stCondLst>
                <p:childTnLst>
                  <p:par>
                    <p:cTn id="148" nodeType="clickEffect" fill="hold">
                      <p:stCondLst>
                        <p:cond evt="onClick">
                          <p:tgtEl>
                            <p:spTgt spid="32"/>
                          </p:tgtEl>
                        </p:cond>
                      </p:stCondLst>
                      <p:childTnLst>
                        <p:par>
                          <p:cTn id="1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0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007 -4.44444E-006 L -0.75243 0.03612 E">
                                      <p:cBhvr>
                                        <p:cTn id="159" dur="3000" fill="hold"/>
                                        <p:tgtEl>
                                          <p:spTgt spid="3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nodeType="withEffect" fill="hold" presetClass="emph" presetID="32" repeatCount="indefinite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66" restart="whenNotActive" nodeType="interactiveSeq" fill="hold">
                <p:stCondLst>
                  <p:cond evt="onClick">
                    <p:tgtEl>
                      <p:spTgt spid="33"/>
                    </p:tgtEl>
                  </p:cond>
                </p:stCondLst>
                <p:childTnLst>
                  <p:par>
                    <p:cTn id="167" nodeType="clickEffect" fill="hold">
                      <p:stCondLst>
                        <p:cond evt="onClick">
                          <p:tgtEl>
                            <p:spTgt spid="33"/>
                          </p:tgtEl>
                        </p:cond>
                      </p:stCondLst>
                      <p:childTnLst>
                        <p:par>
                          <p:cTn id="1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nodeType="withEffect" fill="hold" presetClass="emph" presetID="32" repeatCount="indefinite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006 -2.82051E-006 L -1.12153 0.02101 E">
                                      <p:cBhvr>
                                        <p:cTn id="184" dur="3000" fill="hold"/>
                                        <p:tgtEl>
                                          <p:spTgt spid="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G:\TRO CHOI POWERPOINT\Giai cuu rung xanh\Free-vector-cartoon-natural.jpg"/>
          <p:cNvPicPr/>
          <p:nvPr/>
        </p:nvPicPr>
        <p:blipFill>
          <a:blip r:embed="rId1"/>
          <a:stretch/>
        </p:blipFill>
        <p:spPr>
          <a:xfrm>
            <a:off x="0" y="-330120"/>
            <a:ext cx="9144000" cy="7188120"/>
          </a:xfrm>
          <a:prstGeom prst="rect">
            <a:avLst/>
          </a:prstGeom>
          <a:ln w="0">
            <a:noFill/>
          </a:ln>
        </p:spPr>
      </p:pic>
      <p:pic>
        <p:nvPicPr>
          <p:cNvPr id="45" name="Picture 2" descr="C:\Users\ADMIN\Desktop\Giai cuu con vat\depositphotos_8033217-stock-illustration-cartoon-hunter-with-a-blunderbuss.jpg"/>
          <p:cNvPicPr/>
          <p:nvPr/>
        </p:nvPicPr>
        <p:blipFill>
          <a:blip r:embed="rId2"/>
          <a:stretch/>
        </p:blipFill>
        <p:spPr>
          <a:xfrm flipH="1" rot="20956800">
            <a:off x="-119520" y="4385880"/>
            <a:ext cx="1654200" cy="287604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6" descr="Hình ảnh có liên quan"/>
          <p:cNvPicPr/>
          <p:nvPr/>
        </p:nvPicPr>
        <p:blipFill>
          <a:blip r:embed="rId3"/>
          <a:stretch/>
        </p:blipFill>
        <p:spPr>
          <a:xfrm>
            <a:off x="7391520" y="3408480"/>
            <a:ext cx="2228760" cy="2971800"/>
          </a:xfrm>
          <a:prstGeom prst="rect">
            <a:avLst/>
          </a:prstGeom>
          <a:ln w="0">
            <a:noFill/>
          </a:ln>
        </p:spPr>
      </p:pic>
      <p:pic>
        <p:nvPicPr>
          <p:cNvPr id="47" name="Picture 9" descr="C:\Users\ADMIN\Desktop\Giai cuu con vat\dessin-animé-mignon-de-tigre-43198987.jpg"/>
          <p:cNvPicPr/>
          <p:nvPr/>
        </p:nvPicPr>
        <p:blipFill>
          <a:blip r:embed="rId4"/>
          <a:stretch/>
        </p:blipFill>
        <p:spPr>
          <a:xfrm>
            <a:off x="7139160" y="5880240"/>
            <a:ext cx="1164960" cy="149832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4" descr="Kết quả hình ảnh cho elephant cartoon"/>
          <p:cNvPicPr/>
          <p:nvPr/>
        </p:nvPicPr>
        <p:blipFill>
          <a:blip r:embed="rId5"/>
          <a:stretch/>
        </p:blipFill>
        <p:spPr>
          <a:xfrm>
            <a:off x="7391520" y="4707000"/>
            <a:ext cx="1823760" cy="2903400"/>
          </a:xfrm>
          <a:prstGeom prst="rect">
            <a:avLst/>
          </a:prstGeom>
          <a:ln w="0">
            <a:noFill/>
          </a:ln>
        </p:spPr>
      </p:pic>
      <p:pic>
        <p:nvPicPr>
          <p:cNvPr id="49" name="Picture 2" descr="C:\Users\ADMIN\Desktop\Giai cuu con vat\wooden-board-theme-image-1-vector-clip-art_csp9738361.jpg"/>
          <p:cNvPicPr/>
          <p:nvPr/>
        </p:nvPicPr>
        <p:blipFill>
          <a:blip r:embed="rId6"/>
          <a:stretch/>
        </p:blipFill>
        <p:spPr>
          <a:xfrm>
            <a:off x="1371600" y="-160200"/>
            <a:ext cx="6248520" cy="441612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2" descr="C:\Users\ADMIN\Desktop\Giai cuu con vat\wooden-board-theme-image-1-vector-clip-art_csp9738361.jpg"/>
          <p:cNvPicPr/>
          <p:nvPr/>
        </p:nvPicPr>
        <p:blipFill>
          <a:blip r:embed="rId7"/>
          <a:stretch/>
        </p:blipFill>
        <p:spPr>
          <a:xfrm>
            <a:off x="2170080" y="3632040"/>
            <a:ext cx="4916520" cy="3475080"/>
          </a:xfrm>
          <a:prstGeom prst="rect">
            <a:avLst/>
          </a:prstGeom>
          <a:ln w="0">
            <a:noFill/>
          </a:ln>
        </p:spPr>
      </p:pic>
      <p:sp>
        <p:nvSpPr>
          <p:cNvPr id="51" name="TextBox 1"/>
          <p:cNvSpPr/>
          <p:nvPr/>
        </p:nvSpPr>
        <p:spPr>
          <a:xfrm>
            <a:off x="1981080" y="1035000"/>
            <a:ext cx="480060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Con hãy đọc số: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 </a:t>
            </a:r>
            <a:r>
              <a:rPr b="1" lang="en-US" sz="40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2 316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9"/>
          <p:cNvSpPr/>
          <p:nvPr/>
        </p:nvSpPr>
        <p:spPr>
          <a:xfrm>
            <a:off x="3048120" y="4343400"/>
            <a:ext cx="34290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ff"/>
                </a:solidFill>
                <a:latin typeface="Times New Roman"/>
              </a:rPr>
              <a:t>Hai nghìn ba trăm mười sáu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5" dur="indefinite" restart="never" nodeType="tmRoot">
          <p:childTnLst>
            <p:seq>
              <p:cTn id="186" dur="indefinite" nodeType="mainSeq">
                <p:childTnLst>
                  <p:par>
                    <p:cTn id="187" nodeType="clickEffect" fill="hold">
                      <p:stCondLst>
                        <p:cond delay="0"/>
                      </p:stCondLst>
                      <p:childTnLst>
                        <p:par>
                          <p:cTn id="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 descr="G:\TRO CHOI POWERPOINT\Giai cuu rung xanh\Free-vector-cartoon-natural.jpg"/>
          <p:cNvPicPr/>
          <p:nvPr/>
        </p:nvPicPr>
        <p:blipFill>
          <a:blip r:embed="rId1"/>
          <a:stretch/>
        </p:blipFill>
        <p:spPr>
          <a:xfrm>
            <a:off x="0" y="-330120"/>
            <a:ext cx="9144000" cy="718812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2" descr="C:\Users\ADMIN\Desktop\Giai cuu con vat\depositphotos_8033217-stock-illustration-cartoon-hunter-with-a-blunderbuss.jpg"/>
          <p:cNvPicPr/>
          <p:nvPr/>
        </p:nvPicPr>
        <p:blipFill>
          <a:blip r:embed="rId2"/>
          <a:stretch/>
        </p:blipFill>
        <p:spPr>
          <a:xfrm flipH="1" rot="20956800">
            <a:off x="-119520" y="4385880"/>
            <a:ext cx="1654200" cy="2876040"/>
          </a:xfrm>
          <a:prstGeom prst="rect">
            <a:avLst/>
          </a:prstGeom>
          <a:ln w="0">
            <a:noFill/>
          </a:ln>
        </p:spPr>
      </p:pic>
      <p:pic>
        <p:nvPicPr>
          <p:cNvPr id="55" name="Picture 6" descr="Hình ảnh có liên quan"/>
          <p:cNvPicPr/>
          <p:nvPr/>
        </p:nvPicPr>
        <p:blipFill>
          <a:blip r:embed="rId3"/>
          <a:stretch/>
        </p:blipFill>
        <p:spPr>
          <a:xfrm>
            <a:off x="7391520" y="3408480"/>
            <a:ext cx="2228760" cy="2971800"/>
          </a:xfrm>
          <a:prstGeom prst="rect">
            <a:avLst/>
          </a:prstGeom>
          <a:ln w="0">
            <a:noFill/>
          </a:ln>
        </p:spPr>
      </p:pic>
      <p:pic>
        <p:nvPicPr>
          <p:cNvPr id="56" name="Picture 9" descr="C:\Users\ADMIN\Desktop\Giai cuu con vat\dessin-animé-mignon-de-tigre-43198987.jpg"/>
          <p:cNvPicPr/>
          <p:nvPr/>
        </p:nvPicPr>
        <p:blipFill>
          <a:blip r:embed="rId4"/>
          <a:stretch/>
        </p:blipFill>
        <p:spPr>
          <a:xfrm>
            <a:off x="7139160" y="5880240"/>
            <a:ext cx="1164960" cy="149832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4" descr="Kết quả hình ảnh cho elephant cartoon"/>
          <p:cNvPicPr/>
          <p:nvPr/>
        </p:nvPicPr>
        <p:blipFill>
          <a:blip r:embed="rId5"/>
          <a:stretch/>
        </p:blipFill>
        <p:spPr>
          <a:xfrm>
            <a:off x="7391520" y="4707000"/>
            <a:ext cx="1823760" cy="2903400"/>
          </a:xfrm>
          <a:prstGeom prst="rect">
            <a:avLst/>
          </a:prstGeom>
          <a:ln w="0">
            <a:noFill/>
          </a:ln>
        </p:spPr>
      </p:pic>
      <p:pic>
        <p:nvPicPr>
          <p:cNvPr id="58" name="Picture 2" descr="C:\Users\ADMIN\Desktop\Giai cuu con vat\wooden-board-theme-image-1-vector-clip-art_csp9738361.jpg"/>
          <p:cNvPicPr/>
          <p:nvPr/>
        </p:nvPicPr>
        <p:blipFill>
          <a:blip r:embed="rId6"/>
          <a:stretch/>
        </p:blipFill>
        <p:spPr>
          <a:xfrm>
            <a:off x="1371600" y="-160200"/>
            <a:ext cx="6248520" cy="441612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2" descr="C:\Users\ADMIN\Desktop\Giai cuu con vat\wooden-board-theme-image-1-vector-clip-art_csp9738361.jpg"/>
          <p:cNvPicPr/>
          <p:nvPr/>
        </p:nvPicPr>
        <p:blipFill>
          <a:blip r:embed="rId7"/>
          <a:stretch/>
        </p:blipFill>
        <p:spPr>
          <a:xfrm>
            <a:off x="2170080" y="3632040"/>
            <a:ext cx="4916520" cy="3475080"/>
          </a:xfrm>
          <a:prstGeom prst="rect">
            <a:avLst/>
          </a:prstGeom>
          <a:ln w="0">
            <a:noFill/>
          </a:ln>
        </p:spPr>
      </p:pic>
      <p:sp>
        <p:nvSpPr>
          <p:cNvPr id="60" name="TextBox 1"/>
          <p:cNvSpPr/>
          <p:nvPr/>
        </p:nvSpPr>
        <p:spPr>
          <a:xfrm>
            <a:off x="2398680" y="944640"/>
            <a:ext cx="4611600" cy="15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3300"/>
                </a:solidFill>
                <a:latin typeface="Times New Roman"/>
              </a:rPr>
              <a:t>Số 2 316 gồm mấy nghìn, mấy trăm, mấy chục, mấy đơn vị?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9"/>
          <p:cNvSpPr/>
          <p:nvPr/>
        </p:nvSpPr>
        <p:spPr>
          <a:xfrm>
            <a:off x="2895480" y="4373640"/>
            <a:ext cx="3429000" cy="15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0000ff"/>
                </a:solidFill>
                <a:latin typeface="Times New Roman"/>
              </a:rPr>
              <a:t>Số 2 316 gồm: 2 nghìn, 3 trăm, 1 chục. 6 đơn vị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1" dur="indefinite" restart="never" nodeType="tmRoot">
          <p:childTnLst>
            <p:seq>
              <p:cTn id="212" dur="indefinite" nodeType="mainSeq">
                <p:childTnLst>
                  <p:par>
                    <p:cTn id="213" nodeType="clickEffect" fill="hold">
                      <p:stCondLst>
                        <p:cond delay="0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nodeType="clickEffect" fill="hold">
                      <p:stCondLst>
                        <p:cond delay="indefinite"/>
                      </p:stCondLst>
                      <p:childTnLst>
                        <p:par>
                          <p:cTn id="2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G:\TRO CHOI POWERPOINT\Giai cuu rung xanh\Free-vector-cartoon-natural.jpg"/>
          <p:cNvPicPr/>
          <p:nvPr/>
        </p:nvPicPr>
        <p:blipFill>
          <a:blip r:embed="rId1"/>
          <a:stretch/>
        </p:blipFill>
        <p:spPr>
          <a:xfrm>
            <a:off x="0" y="-330120"/>
            <a:ext cx="9144000" cy="718812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2" descr="C:\Users\ADMIN\Desktop\Giai cuu con vat\depositphotos_8033217-stock-illustration-cartoon-hunter-with-a-blunderbuss.jpg"/>
          <p:cNvPicPr/>
          <p:nvPr/>
        </p:nvPicPr>
        <p:blipFill>
          <a:blip r:embed="rId2"/>
          <a:stretch/>
        </p:blipFill>
        <p:spPr>
          <a:xfrm flipH="1" rot="20956800">
            <a:off x="-119520" y="4385880"/>
            <a:ext cx="1654200" cy="2876040"/>
          </a:xfrm>
          <a:prstGeom prst="rect">
            <a:avLst/>
          </a:prstGeom>
          <a:ln w="0">
            <a:noFill/>
          </a:ln>
        </p:spPr>
      </p:pic>
      <p:pic>
        <p:nvPicPr>
          <p:cNvPr id="64" name="Picture 6" descr="Hình ảnh có liên quan"/>
          <p:cNvPicPr/>
          <p:nvPr/>
        </p:nvPicPr>
        <p:blipFill>
          <a:blip r:embed="rId3"/>
          <a:stretch/>
        </p:blipFill>
        <p:spPr>
          <a:xfrm>
            <a:off x="7391520" y="3408480"/>
            <a:ext cx="2228760" cy="2971800"/>
          </a:xfrm>
          <a:prstGeom prst="rect">
            <a:avLst/>
          </a:prstGeom>
          <a:ln w="0">
            <a:noFill/>
          </a:ln>
        </p:spPr>
      </p:pic>
      <p:pic>
        <p:nvPicPr>
          <p:cNvPr id="65" name="Picture 9" descr="C:\Users\ADMIN\Desktop\Giai cuu con vat\dessin-animé-mignon-de-tigre-43198987.jpg"/>
          <p:cNvPicPr/>
          <p:nvPr/>
        </p:nvPicPr>
        <p:blipFill>
          <a:blip r:embed="rId4"/>
          <a:stretch/>
        </p:blipFill>
        <p:spPr>
          <a:xfrm>
            <a:off x="7139160" y="5880240"/>
            <a:ext cx="1164960" cy="1498320"/>
          </a:xfrm>
          <a:prstGeom prst="rect">
            <a:avLst/>
          </a:prstGeom>
          <a:ln w="0">
            <a:noFill/>
          </a:ln>
        </p:spPr>
      </p:pic>
      <p:pic>
        <p:nvPicPr>
          <p:cNvPr id="66" name="Picture 4" descr="Kết quả hình ảnh cho elephant cartoon"/>
          <p:cNvPicPr/>
          <p:nvPr/>
        </p:nvPicPr>
        <p:blipFill>
          <a:blip r:embed="rId5"/>
          <a:stretch/>
        </p:blipFill>
        <p:spPr>
          <a:xfrm>
            <a:off x="7391520" y="4707000"/>
            <a:ext cx="1823760" cy="2903400"/>
          </a:xfrm>
          <a:prstGeom prst="rect">
            <a:avLst/>
          </a:prstGeom>
          <a:ln w="0">
            <a:noFill/>
          </a:ln>
        </p:spPr>
      </p:pic>
      <p:pic>
        <p:nvPicPr>
          <p:cNvPr id="67" name="Picture 2" descr="C:\Users\ADMIN\Desktop\Giai cuu con vat\wooden-board-theme-image-1-vector-clip-art_csp9738361.jpg"/>
          <p:cNvPicPr/>
          <p:nvPr/>
        </p:nvPicPr>
        <p:blipFill>
          <a:blip r:embed="rId6"/>
          <a:stretch/>
        </p:blipFill>
        <p:spPr>
          <a:xfrm>
            <a:off x="1371600" y="-160200"/>
            <a:ext cx="6248520" cy="441612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2" descr="C:\Users\ADMIN\Desktop\Giai cuu con vat\wooden-board-theme-image-1-vector-clip-art_csp9738361.jpg"/>
          <p:cNvPicPr/>
          <p:nvPr/>
        </p:nvPicPr>
        <p:blipFill>
          <a:blip r:embed="rId7"/>
          <a:stretch/>
        </p:blipFill>
        <p:spPr>
          <a:xfrm>
            <a:off x="2170080" y="3632040"/>
            <a:ext cx="4916520" cy="3475080"/>
          </a:xfrm>
          <a:prstGeom prst="rect">
            <a:avLst/>
          </a:prstGeom>
          <a:ln w="0">
            <a:noFill/>
          </a:ln>
        </p:spPr>
      </p:pic>
      <p:sp>
        <p:nvSpPr>
          <p:cNvPr id="69" name="TextBox 1"/>
          <p:cNvSpPr/>
          <p:nvPr/>
        </p:nvSpPr>
        <p:spPr>
          <a:xfrm>
            <a:off x="2552760" y="1030320"/>
            <a:ext cx="403848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Con hãy đọc số: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0000"/>
                </a:solidFill>
                <a:latin typeface="Times New Roman"/>
              </a:rPr>
              <a:t> </a:t>
            </a:r>
            <a:r>
              <a:rPr b="1" lang="en-US" sz="4000" spc="-1" strike="noStrike">
                <a:solidFill>
                  <a:srgbClr val="ff0000"/>
                </a:solidFill>
                <a:latin typeface="Times New Roman"/>
              </a:rPr>
              <a:t>10 000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2895480" y="4894200"/>
            <a:ext cx="3429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0000ff"/>
                </a:solidFill>
                <a:latin typeface="Times New Roman"/>
              </a:rPr>
              <a:t>Mười nghìn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7" dur="indefinite" restart="never" nodeType="tmRoot">
          <p:childTnLst>
            <p:seq>
              <p:cTn id="238" dur="indefinite" nodeType="mainSeq">
                <p:childTnLst>
                  <p:par>
                    <p:cTn id="239" nodeType="clickEffect" fill="hold">
                      <p:stCondLst>
                        <p:cond delay="0"/>
                      </p:stCondLst>
                      <p:childTnLst>
                        <p:par>
                          <p:cTn id="2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4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4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nodeType="clickEffect" fill="hold">
                      <p:stCondLst>
                        <p:cond delay="indefinite"/>
                      </p:stCondLst>
                      <p:childTnLst>
                        <p:par>
                          <p:cTn id="2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6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 descr="G:\TRO CHOI POWERPOINT\Giai cuu rung xanh\Free-vector-cartoon-natural.jpg"/>
          <p:cNvPicPr/>
          <p:nvPr/>
        </p:nvPicPr>
        <p:blipFill>
          <a:blip r:embed="rId1"/>
          <a:stretch/>
        </p:blipFill>
        <p:spPr>
          <a:xfrm>
            <a:off x="0" y="-330120"/>
            <a:ext cx="9144000" cy="718812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2" descr="C:\Users\ADMIN\Desktop\Giai cuu con vat\depositphotos_8033217-stock-illustration-cartoon-hunter-with-a-blunderbuss.jpg"/>
          <p:cNvPicPr/>
          <p:nvPr/>
        </p:nvPicPr>
        <p:blipFill>
          <a:blip r:embed="rId2"/>
          <a:stretch/>
        </p:blipFill>
        <p:spPr>
          <a:xfrm flipH="1" rot="20956800">
            <a:off x="-119520" y="4385880"/>
            <a:ext cx="1654200" cy="287604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6" descr="Hình ảnh có liên quan"/>
          <p:cNvPicPr/>
          <p:nvPr/>
        </p:nvPicPr>
        <p:blipFill>
          <a:blip r:embed="rId3"/>
          <a:stretch/>
        </p:blipFill>
        <p:spPr>
          <a:xfrm>
            <a:off x="7391520" y="3408480"/>
            <a:ext cx="2228760" cy="2971800"/>
          </a:xfrm>
          <a:prstGeom prst="rect">
            <a:avLst/>
          </a:prstGeom>
          <a:ln w="0">
            <a:noFill/>
          </a:ln>
        </p:spPr>
      </p:pic>
      <p:pic>
        <p:nvPicPr>
          <p:cNvPr id="74" name="Picture 9" descr="C:\Users\ADMIN\Desktop\Giai cuu con vat\dessin-animé-mignon-de-tigre-43198987.jpg"/>
          <p:cNvPicPr/>
          <p:nvPr/>
        </p:nvPicPr>
        <p:blipFill>
          <a:blip r:embed="rId4"/>
          <a:stretch/>
        </p:blipFill>
        <p:spPr>
          <a:xfrm>
            <a:off x="7139160" y="5880240"/>
            <a:ext cx="1164960" cy="149832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4" descr="Kết quả hình ảnh cho elephant cartoon"/>
          <p:cNvPicPr/>
          <p:nvPr/>
        </p:nvPicPr>
        <p:blipFill>
          <a:blip r:embed="rId5"/>
          <a:stretch/>
        </p:blipFill>
        <p:spPr>
          <a:xfrm>
            <a:off x="7391520" y="4707000"/>
            <a:ext cx="1823760" cy="290340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2" descr="C:\Users\ADMIN\Desktop\Giai cuu con vat\wooden-board-theme-image-1-vector-clip-art_csp9738361.jpg"/>
          <p:cNvPicPr/>
          <p:nvPr/>
        </p:nvPicPr>
        <p:blipFill>
          <a:blip r:embed="rId6"/>
          <a:stretch/>
        </p:blipFill>
        <p:spPr>
          <a:xfrm>
            <a:off x="1066680" y="-160200"/>
            <a:ext cx="6934320" cy="441612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2" descr="C:\Users\ADMIN\Desktop\Giai cuu con vat\wooden-board-theme-image-1-vector-clip-art_csp9738361.jpg"/>
          <p:cNvPicPr/>
          <p:nvPr/>
        </p:nvPicPr>
        <p:blipFill>
          <a:blip r:embed="rId7"/>
          <a:stretch/>
        </p:blipFill>
        <p:spPr>
          <a:xfrm>
            <a:off x="1523880" y="3632040"/>
            <a:ext cx="5867640" cy="3475080"/>
          </a:xfrm>
          <a:prstGeom prst="rect">
            <a:avLst/>
          </a:prstGeom>
          <a:ln w="0">
            <a:noFill/>
          </a:ln>
        </p:spPr>
      </p:pic>
      <p:sp>
        <p:nvSpPr>
          <p:cNvPr id="78" name="TextBox 1"/>
          <p:cNvSpPr/>
          <p:nvPr/>
        </p:nvSpPr>
        <p:spPr>
          <a:xfrm>
            <a:off x="2251080" y="914400"/>
            <a:ext cx="4983120" cy="15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0000"/>
                </a:solidFill>
                <a:latin typeface="Times New Roman"/>
              </a:rPr>
              <a:t>Số 10 000 gồm mấy nghìn, mấy trăm, mấy chục, mấy đơn vị?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2286000" y="4668840"/>
            <a:ext cx="457200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0000ff"/>
                </a:solidFill>
                <a:latin typeface="Times New Roman"/>
              </a:rPr>
              <a:t>Số 10 000 gồm:10 nghìn, 0 trăm, 0 chục, 0 đơn vị.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3" dur="indefinite" restart="never" nodeType="tmRoot">
          <p:childTnLst>
            <p:seq>
              <p:cTn id="264" dur="indefinite" nodeType="mainSeq">
                <p:childTnLst>
                  <p:par>
                    <p:cTn id="265" nodeType="clickEffect" fill="hold">
                      <p:stCondLst>
                        <p:cond delay="0"/>
                      </p:stCondLst>
                      <p:childTnLst>
                        <p:par>
                          <p:cTn id="2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nodeType="clickEffect" fill="hold">
                      <p:stCondLst>
                        <p:cond delay="indefinite"/>
                      </p:stCondLst>
                      <p:childTnLst>
                        <p:par>
                          <p:cTn id="2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8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8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AutoShape 4"/>
          <p:cNvSpPr/>
          <p:nvPr/>
        </p:nvSpPr>
        <p:spPr>
          <a:xfrm>
            <a:off x="200160" y="609480"/>
            <a:ext cx="8762760" cy="5410440"/>
          </a:xfrm>
          <a:prstGeom prst="flowChartAlternateProcess">
            <a:avLst/>
          </a:prstGeom>
          <a:solidFill>
            <a:srgbClr val="3366ff"/>
          </a:solidFill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1" name=""/>
          <p:cNvGraphicFramePr/>
          <p:nvPr/>
        </p:nvGraphicFramePr>
        <p:xfrm>
          <a:off x="568440" y="762120"/>
          <a:ext cx="8076960" cy="4259160"/>
        </p:xfrm>
        <a:graphic>
          <a:graphicData uri="http://schemas.openxmlformats.org/drawingml/2006/table">
            <a:tbl>
              <a:tblPr/>
              <a:tblGrid>
                <a:gridCol w="1616040"/>
                <a:gridCol w="1614240"/>
                <a:gridCol w="1616400"/>
                <a:gridCol w="1614240"/>
                <a:gridCol w="1616040"/>
              </a:tblGrid>
              <a:tr h="518760">
                <a:tc gridSpan="5"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                     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2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  <a:tr h="284076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  <a:tr h="518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</a:t>
                      </a: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</a:tbl>
          </a:graphicData>
        </a:graphic>
      </p:graphicFrame>
      <p:grpSp>
        <p:nvGrpSpPr>
          <p:cNvPr id="82" name="Group 193"/>
          <p:cNvGrpSpPr/>
          <p:nvPr/>
        </p:nvGrpSpPr>
        <p:grpSpPr>
          <a:xfrm>
            <a:off x="7426440" y="1698480"/>
            <a:ext cx="838080" cy="2730600"/>
            <a:chOff x="7426440" y="1698480"/>
            <a:chExt cx="838080" cy="2730600"/>
          </a:xfrm>
        </p:grpSpPr>
        <p:sp>
          <p:nvSpPr>
            <p:cNvPr id="83" name="Oval 158"/>
            <p:cNvSpPr/>
            <p:nvPr/>
          </p:nvSpPr>
          <p:spPr>
            <a:xfrm>
              <a:off x="7426440" y="1698480"/>
              <a:ext cx="762120" cy="38124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Oval 159"/>
            <p:cNvSpPr/>
            <p:nvPr/>
          </p:nvSpPr>
          <p:spPr>
            <a:xfrm>
              <a:off x="7480440" y="2187720"/>
              <a:ext cx="762120" cy="38088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Oval 160"/>
            <p:cNvSpPr/>
            <p:nvPr/>
          </p:nvSpPr>
          <p:spPr>
            <a:xfrm>
              <a:off x="7471080" y="2676600"/>
              <a:ext cx="761760" cy="38088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Oval 162"/>
            <p:cNvSpPr/>
            <p:nvPr/>
          </p:nvSpPr>
          <p:spPr>
            <a:xfrm>
              <a:off x="7493040" y="3133800"/>
              <a:ext cx="762120" cy="38088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Oval 163"/>
            <p:cNvSpPr/>
            <p:nvPr/>
          </p:nvSpPr>
          <p:spPr>
            <a:xfrm>
              <a:off x="7502760" y="3591000"/>
              <a:ext cx="761760" cy="38088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Oval 164"/>
            <p:cNvSpPr/>
            <p:nvPr/>
          </p:nvSpPr>
          <p:spPr>
            <a:xfrm>
              <a:off x="7502760" y="4048200"/>
              <a:ext cx="761760" cy="38088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9" name="Group 190"/>
          <p:cNvGrpSpPr/>
          <p:nvPr/>
        </p:nvGrpSpPr>
        <p:grpSpPr>
          <a:xfrm>
            <a:off x="657360" y="1797120"/>
            <a:ext cx="1403280" cy="2133000"/>
            <a:chOff x="657360" y="1797120"/>
            <a:chExt cx="1403280" cy="2133000"/>
          </a:xfrm>
        </p:grpSpPr>
        <p:sp>
          <p:nvSpPr>
            <p:cNvPr id="90" name="Rectangle 143"/>
            <p:cNvSpPr/>
            <p:nvPr/>
          </p:nvSpPr>
          <p:spPr>
            <a:xfrm>
              <a:off x="657360" y="1797120"/>
              <a:ext cx="1371600" cy="38088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Rectangle 165"/>
            <p:cNvSpPr/>
            <p:nvPr/>
          </p:nvSpPr>
          <p:spPr>
            <a:xfrm>
              <a:off x="679680" y="2330280"/>
              <a:ext cx="1371600" cy="38052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Rectangle 166"/>
            <p:cNvSpPr/>
            <p:nvPr/>
          </p:nvSpPr>
          <p:spPr>
            <a:xfrm>
              <a:off x="689040" y="2939760"/>
              <a:ext cx="1371600" cy="38088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Rectangle 167"/>
            <p:cNvSpPr/>
            <p:nvPr/>
          </p:nvSpPr>
          <p:spPr>
            <a:xfrm>
              <a:off x="669960" y="3549600"/>
              <a:ext cx="1371600" cy="38052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" name="Group 191"/>
          <p:cNvGrpSpPr/>
          <p:nvPr/>
        </p:nvGrpSpPr>
        <p:grpSpPr>
          <a:xfrm>
            <a:off x="2511360" y="1797120"/>
            <a:ext cx="1067040" cy="1066320"/>
            <a:chOff x="2511360" y="1797120"/>
            <a:chExt cx="1067040" cy="1066320"/>
          </a:xfrm>
        </p:grpSpPr>
        <p:sp>
          <p:nvSpPr>
            <p:cNvPr id="95" name="Rectangle 168"/>
            <p:cNvSpPr/>
            <p:nvPr/>
          </p:nvSpPr>
          <p:spPr>
            <a:xfrm>
              <a:off x="2511360" y="1797120"/>
              <a:ext cx="1067040" cy="45684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Rectangle 170"/>
            <p:cNvSpPr/>
            <p:nvPr/>
          </p:nvSpPr>
          <p:spPr>
            <a:xfrm>
              <a:off x="2511360" y="2406600"/>
              <a:ext cx="1067040" cy="45684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7" name="Oval 172"/>
          <p:cNvSpPr/>
          <p:nvPr/>
        </p:nvSpPr>
        <p:spPr>
          <a:xfrm>
            <a:off x="5867280" y="1828800"/>
            <a:ext cx="762120" cy="4572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10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8" name="Group 192"/>
          <p:cNvGrpSpPr/>
          <p:nvPr/>
        </p:nvGrpSpPr>
        <p:grpSpPr>
          <a:xfrm>
            <a:off x="4197240" y="1797120"/>
            <a:ext cx="816120" cy="1853640"/>
            <a:chOff x="4197240" y="1797120"/>
            <a:chExt cx="816120" cy="1853640"/>
          </a:xfrm>
        </p:grpSpPr>
        <p:sp>
          <p:nvSpPr>
            <p:cNvPr id="99" name="Oval 173"/>
            <p:cNvSpPr/>
            <p:nvPr/>
          </p:nvSpPr>
          <p:spPr>
            <a:xfrm>
              <a:off x="4251240" y="3114360"/>
              <a:ext cx="762120" cy="53640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Oval 174"/>
            <p:cNvSpPr/>
            <p:nvPr/>
          </p:nvSpPr>
          <p:spPr>
            <a:xfrm>
              <a:off x="4197240" y="2482560"/>
              <a:ext cx="762120" cy="53316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Oval 175"/>
            <p:cNvSpPr/>
            <p:nvPr/>
          </p:nvSpPr>
          <p:spPr>
            <a:xfrm>
              <a:off x="4241880" y="1797120"/>
              <a:ext cx="761760" cy="53316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2" name="Text Box 176"/>
          <p:cNvSpPr/>
          <p:nvPr/>
        </p:nvSpPr>
        <p:spPr>
          <a:xfrm>
            <a:off x="4073400" y="730080"/>
            <a:ext cx="1676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HÀNG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Box 177"/>
          <p:cNvSpPr/>
          <p:nvPr/>
        </p:nvSpPr>
        <p:spPr>
          <a:xfrm>
            <a:off x="492120" y="1209600"/>
            <a:ext cx="2286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Chục nghìn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Box 178"/>
          <p:cNvSpPr/>
          <p:nvPr/>
        </p:nvSpPr>
        <p:spPr>
          <a:xfrm>
            <a:off x="2327400" y="1209600"/>
            <a:ext cx="1447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Nghìn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Box 179"/>
          <p:cNvSpPr/>
          <p:nvPr/>
        </p:nvSpPr>
        <p:spPr>
          <a:xfrm>
            <a:off x="4035600" y="1238400"/>
            <a:ext cx="1447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Trăm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Box 180"/>
          <p:cNvSpPr/>
          <p:nvPr/>
        </p:nvSpPr>
        <p:spPr>
          <a:xfrm>
            <a:off x="5410080" y="1219320"/>
            <a:ext cx="1447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Chục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Box 181"/>
          <p:cNvSpPr/>
          <p:nvPr/>
        </p:nvSpPr>
        <p:spPr>
          <a:xfrm>
            <a:off x="7197840" y="1263600"/>
            <a:ext cx="1447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Đơn vị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Box 182"/>
          <p:cNvSpPr/>
          <p:nvPr/>
        </p:nvSpPr>
        <p:spPr>
          <a:xfrm>
            <a:off x="2438280" y="5029200"/>
            <a:ext cx="68580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Box 183"/>
          <p:cNvSpPr/>
          <p:nvPr/>
        </p:nvSpPr>
        <p:spPr>
          <a:xfrm>
            <a:off x="1101600" y="4502160"/>
            <a:ext cx="615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Box 184"/>
          <p:cNvSpPr/>
          <p:nvPr/>
        </p:nvSpPr>
        <p:spPr>
          <a:xfrm>
            <a:off x="2711520" y="4502160"/>
            <a:ext cx="615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Box 185"/>
          <p:cNvSpPr/>
          <p:nvPr/>
        </p:nvSpPr>
        <p:spPr>
          <a:xfrm>
            <a:off x="4257720" y="4502160"/>
            <a:ext cx="615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Box 186"/>
          <p:cNvSpPr/>
          <p:nvPr/>
        </p:nvSpPr>
        <p:spPr>
          <a:xfrm>
            <a:off x="5902200" y="4502160"/>
            <a:ext cx="615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Box 187"/>
          <p:cNvSpPr/>
          <p:nvPr/>
        </p:nvSpPr>
        <p:spPr>
          <a:xfrm>
            <a:off x="7502400" y="4514760"/>
            <a:ext cx="615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Box 188"/>
          <p:cNvSpPr/>
          <p:nvPr/>
        </p:nvSpPr>
        <p:spPr>
          <a:xfrm>
            <a:off x="1219320" y="5032440"/>
            <a:ext cx="3276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imes New Roman"/>
              </a:rPr>
              <a:t>Viết số : 42 316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Box 189"/>
          <p:cNvSpPr/>
          <p:nvPr/>
        </p:nvSpPr>
        <p:spPr>
          <a:xfrm>
            <a:off x="1219320" y="5416560"/>
            <a:ext cx="67816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imes New Roman"/>
              </a:rPr>
              <a:t>Đọc số : Bốn mươi hai nghìn ba trăm mười sáu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Box 196"/>
          <p:cNvSpPr/>
          <p:nvPr/>
        </p:nvSpPr>
        <p:spPr>
          <a:xfrm>
            <a:off x="2438280" y="-304920"/>
            <a:ext cx="2819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9" dur="indefinite" restart="never" nodeType="tmRoot">
          <p:childTnLst>
            <p:seq>
              <p:cTn id="290" dur="indefinite" nodeType="mainSeq">
                <p:childTnLst>
                  <p:par>
                    <p:cTn id="291" nodeType="clickEffect" fill="hold">
                      <p:stCondLst>
                        <p:cond delay="indefinite"/>
                      </p:stCondLst>
                      <p:childTnLst>
                        <p:par>
                          <p:cTn id="2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295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nodeType="with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298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0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nodeType="withEffect" fill="hold" presetClass="entr" presetID="14" presetSubtype="10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04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0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1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1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nodeType="clickEffect" fill="hold">
                      <p:stCondLst>
                        <p:cond delay="indefinite"/>
                      </p:stCondLst>
                      <p:childTnLst>
                        <p:par>
                          <p:cTn id="3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mph" presetID="18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nodeType="clickEffect" fill="hold">
                      <p:stCondLst>
                        <p:cond delay="indefinite"/>
                      </p:stCondLst>
                      <p:childTnLst>
                        <p:par>
                          <p:cTn id="3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5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nodeType="clickEffect" fill="hold">
                      <p:stCondLst>
                        <p:cond delay="indefinite"/>
                      </p:stCondLst>
                      <p:childTnLst>
                        <p:par>
                          <p:cTn id="3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0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nodeType="clickEffect" fill="hold">
                      <p:stCondLst>
                        <p:cond delay="indefinite"/>
                      </p:stCondLst>
                      <p:childTnLst>
                        <p:par>
                          <p:cTn id="3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5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nodeType="clickEffect" fill="hold">
                      <p:stCondLst>
                        <p:cond delay="indefinite"/>
                      </p:stCondLst>
                      <p:childTnLst>
                        <p:par>
                          <p:cTn id="3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0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nodeType="clickEffect" fill="hold">
                      <p:stCondLst>
                        <p:cond delay="indefinite"/>
                      </p:stCondLst>
                      <p:childTnLst>
                        <p:par>
                          <p:cTn id="3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nodeType="clickEffect" fill="hold">
                      <p:stCondLst>
                        <p:cond delay="indefinite"/>
                      </p:stCondLst>
                      <p:childTnLst>
                        <p:par>
                          <p:cTn id="3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5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nodeType="clickEffect" fill="hold">
                      <p:stCondLst>
                        <p:cond delay="indefinite"/>
                      </p:stCondLst>
                      <p:childTnLst>
                        <p:par>
                          <p:cTn id="3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5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nodeType="clickEffect" fill="hold">
                      <p:stCondLst>
                        <p:cond delay="indefinite"/>
                      </p:stCondLst>
                      <p:childTnLst>
                        <p:par>
                          <p:cTn id="3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nodeType="clickEffect" fill="hold">
                      <p:stCondLst>
                        <p:cond delay="indefinite"/>
                      </p:stCondLst>
                      <p:childTnLst>
                        <p:par>
                          <p:cTn id="3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nodeType="clickEffect" fill="hold">
                      <p:stCondLst>
                        <p:cond delay="indefinite"/>
                      </p:stCondLst>
                      <p:childTnLst>
                        <p:par>
                          <p:cTn id="3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7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nodeType="clickEffect" fill="hold">
                      <p:stCondLst>
                        <p:cond delay="indefinite"/>
                      </p:stCondLst>
                      <p:childTnLst>
                        <p:par>
                          <p:cTn id="3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7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nodeType="clickEffect" fill="hold">
                      <p:stCondLst>
                        <p:cond delay="indefinite"/>
                      </p:stCondLst>
                      <p:childTnLst>
                        <p:par>
                          <p:cTn id="3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8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8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8" name=""/>
          <p:cNvGraphicFramePr/>
          <p:nvPr/>
        </p:nvGraphicFramePr>
        <p:xfrm>
          <a:off x="457200" y="914400"/>
          <a:ext cx="8305920" cy="4876920"/>
        </p:xfrm>
        <a:graphic>
          <a:graphicData uri="http://schemas.openxmlformats.org/drawingml/2006/table">
            <a:tbl>
              <a:tblPr/>
              <a:tblGrid>
                <a:gridCol w="2868480"/>
                <a:gridCol w="5437440"/>
              </a:tblGrid>
              <a:tr h="10288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4000" spc="-1" strike="noStrike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</a:rPr>
                        <a:t>Viết số</a:t>
                      </a:r>
                      <a:endParaRPr b="0" lang="en-US" sz="4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4000" spc="-1" strike="noStrike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</a:rPr>
                        <a:t>Đọc số</a:t>
                      </a:r>
                      <a:endParaRPr b="0" lang="en-US" sz="4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</a:tr>
              <a:tr h="19238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4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4000" spc="-1" strike="noStrike">
                          <a:solidFill>
                            <a:srgbClr val="ffff00"/>
                          </a:solidFill>
                          <a:latin typeface="Arial"/>
                        </a:rPr>
                        <a:t>2 316</a:t>
                      </a:r>
                      <a:endParaRPr b="0" lang="en-US" sz="4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4000" spc="-1" strike="noStrike">
                          <a:solidFill>
                            <a:srgbClr val="ffff00"/>
                          </a:solidFill>
                          <a:latin typeface="Arial"/>
                        </a:rPr>
                        <a:t>Hai nghìn ba trăm mười sáu.</a:t>
                      </a:r>
                      <a:endParaRPr b="0" lang="en-US" sz="4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</a:tr>
              <a:tr h="192420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4000" spc="-1" strike="noStrike">
                          <a:solidFill>
                            <a:srgbClr val="ffff00"/>
                          </a:solidFill>
                          <a:latin typeface="Arial"/>
                        </a:rPr>
                        <a:t>42 316</a:t>
                      </a:r>
                      <a:endParaRPr b="0" lang="en-US" sz="4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4000" spc="-1" strike="noStrike">
                          <a:solidFill>
                            <a:srgbClr val="ffff00"/>
                          </a:solidFill>
                          <a:latin typeface="Arial"/>
                        </a:rPr>
                        <a:t>Bốn mươi hai nghìn ba trăm mười sáu.</a:t>
                      </a:r>
                      <a:endParaRPr b="0" lang="en-US" sz="4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Box 7"/>
          <p:cNvSpPr/>
          <p:nvPr/>
        </p:nvSpPr>
        <p:spPr>
          <a:xfrm>
            <a:off x="2971800" y="311040"/>
            <a:ext cx="3429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3300"/>
                </a:solidFill>
                <a:latin typeface="Times New Roman"/>
              </a:rPr>
              <a:t>Luyện đọc số 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Box 8"/>
          <p:cNvSpPr/>
          <p:nvPr/>
        </p:nvSpPr>
        <p:spPr>
          <a:xfrm>
            <a:off x="152280" y="1316160"/>
            <a:ext cx="3505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- Đọc các cặp số sau: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Box 9"/>
          <p:cNvSpPr/>
          <p:nvPr/>
        </p:nvSpPr>
        <p:spPr>
          <a:xfrm>
            <a:off x="2590920" y="1871640"/>
            <a:ext cx="350496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</a:rPr>
              <a:t>a) 5 327 ; 45 327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</a:rPr>
              <a:t>b) 8 735 ; 28 735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</a:rPr>
              <a:t>c) 6 581 ; 96 581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Box 10"/>
          <p:cNvSpPr/>
          <p:nvPr/>
        </p:nvSpPr>
        <p:spPr>
          <a:xfrm>
            <a:off x="498600" y="1386000"/>
            <a:ext cx="29718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- Viết số 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685800" y="2044800"/>
            <a:ext cx="777240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3300"/>
                </a:solidFill>
                <a:latin typeface="Times New Roman"/>
                <a:ea typeface="Times New Roman"/>
              </a:rPr>
              <a:t>Viết số gồm: 3 chục nghìn, 2 nghìn, 7 trăm, 4 chục, 1 đơn vị.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3048120" y="3135240"/>
            <a:ext cx="16761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2060"/>
                </a:solidFill>
                <a:latin typeface="Times New Roman"/>
                <a:ea typeface="Times New Roman"/>
              </a:rPr>
              <a:t>32 741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1" dur="indefinite" restart="never" nodeType="tmRoot">
          <p:childTnLst>
            <p:seq>
              <p:cTn id="382" dur="indefinite" nodeType="mainSeq">
                <p:childTnLst>
                  <p:par>
                    <p:cTn id="383" nodeType="clickEffect" fill="hold">
                      <p:stCondLst>
                        <p:cond delay="indefinite"/>
                      </p:stCondLst>
                      <p:childTnLst>
                        <p:par>
                          <p:cTn id="3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8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"/>
          <p:cNvGraphicFramePr/>
          <p:nvPr/>
        </p:nvGraphicFramePr>
        <p:xfrm>
          <a:off x="511200" y="1422360"/>
          <a:ext cx="8077320" cy="3554280"/>
        </p:xfrm>
        <a:graphic>
          <a:graphicData uri="http://schemas.openxmlformats.org/drawingml/2006/table">
            <a:tbl>
              <a:tblPr/>
              <a:tblGrid>
                <a:gridCol w="1616040"/>
                <a:gridCol w="1614600"/>
                <a:gridCol w="1616040"/>
                <a:gridCol w="1652400"/>
                <a:gridCol w="1578240"/>
              </a:tblGrid>
              <a:tr h="518760">
                <a:tc gridSpan="5"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                     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70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  <a:tr h="213012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  <a:tr h="518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</a:t>
                      </a: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</a:tbl>
          </a:graphicData>
        </a:graphic>
      </p:graphicFrame>
      <p:grpSp>
        <p:nvGrpSpPr>
          <p:cNvPr id="126" name="Group 93"/>
          <p:cNvGrpSpPr/>
          <p:nvPr/>
        </p:nvGrpSpPr>
        <p:grpSpPr>
          <a:xfrm>
            <a:off x="457200" y="1419120"/>
            <a:ext cx="8258040" cy="4472280"/>
            <a:chOff x="457200" y="1419120"/>
            <a:chExt cx="8258040" cy="4472280"/>
          </a:xfrm>
        </p:grpSpPr>
        <p:sp>
          <p:nvSpPr>
            <p:cNvPr id="127" name="Text Box 33"/>
            <p:cNvSpPr/>
            <p:nvPr/>
          </p:nvSpPr>
          <p:spPr>
            <a:xfrm>
              <a:off x="4038480" y="1419120"/>
              <a:ext cx="16765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74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</a:rPr>
                <a:t>HÀNG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" name="Text Box 34"/>
            <p:cNvSpPr/>
            <p:nvPr/>
          </p:nvSpPr>
          <p:spPr>
            <a:xfrm>
              <a:off x="457200" y="1873080"/>
              <a:ext cx="22860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Chục nghìn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" name="Text Box 35"/>
            <p:cNvSpPr/>
            <p:nvPr/>
          </p:nvSpPr>
          <p:spPr>
            <a:xfrm>
              <a:off x="2362320" y="1882800"/>
              <a:ext cx="14475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Nghìn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Text Box 36"/>
            <p:cNvSpPr/>
            <p:nvPr/>
          </p:nvSpPr>
          <p:spPr>
            <a:xfrm>
              <a:off x="4111560" y="1863720"/>
              <a:ext cx="144792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Trăm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Text Box 37"/>
            <p:cNvSpPr/>
            <p:nvPr/>
          </p:nvSpPr>
          <p:spPr>
            <a:xfrm>
              <a:off x="5483160" y="1886040"/>
              <a:ext cx="144792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 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Chục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Text Box 38"/>
            <p:cNvSpPr/>
            <p:nvPr/>
          </p:nvSpPr>
          <p:spPr>
            <a:xfrm>
              <a:off x="7267680" y="1863720"/>
              <a:ext cx="14475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Đơn vị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" name="Rectangle 39"/>
            <p:cNvSpPr/>
            <p:nvPr/>
          </p:nvSpPr>
          <p:spPr>
            <a:xfrm>
              <a:off x="647640" y="2495520"/>
              <a:ext cx="1371600" cy="38088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Oval 40"/>
            <p:cNvSpPr/>
            <p:nvPr/>
          </p:nvSpPr>
          <p:spPr>
            <a:xfrm>
              <a:off x="7238880" y="2489040"/>
              <a:ext cx="762120" cy="38124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Oval 41"/>
            <p:cNvSpPr/>
            <p:nvPr/>
          </p:nvSpPr>
          <p:spPr>
            <a:xfrm>
              <a:off x="7270920" y="2946240"/>
              <a:ext cx="761760" cy="38124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Oval 42"/>
            <p:cNvSpPr/>
            <p:nvPr/>
          </p:nvSpPr>
          <p:spPr>
            <a:xfrm>
              <a:off x="7296120" y="3403440"/>
              <a:ext cx="762120" cy="38124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Rectangle 44"/>
            <p:cNvSpPr/>
            <p:nvPr/>
          </p:nvSpPr>
          <p:spPr>
            <a:xfrm>
              <a:off x="669960" y="3029040"/>
              <a:ext cx="1371600" cy="38088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Rectangle 45"/>
            <p:cNvSpPr/>
            <p:nvPr/>
          </p:nvSpPr>
          <p:spPr>
            <a:xfrm>
              <a:off x="635040" y="3638520"/>
              <a:ext cx="1371600" cy="38088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Rectangle 46"/>
            <p:cNvSpPr/>
            <p:nvPr/>
          </p:nvSpPr>
          <p:spPr>
            <a:xfrm>
              <a:off x="2409840" y="2533680"/>
              <a:ext cx="1066680" cy="45720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" name="Rectangle 47"/>
            <p:cNvSpPr/>
            <p:nvPr/>
          </p:nvSpPr>
          <p:spPr>
            <a:xfrm>
              <a:off x="2438280" y="3174840"/>
              <a:ext cx="1067040" cy="45720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Oval 48"/>
            <p:cNvSpPr/>
            <p:nvPr/>
          </p:nvSpPr>
          <p:spPr>
            <a:xfrm>
              <a:off x="5791320" y="2489040"/>
              <a:ext cx="761760" cy="45720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Oval 49"/>
            <p:cNvSpPr/>
            <p:nvPr/>
          </p:nvSpPr>
          <p:spPr>
            <a:xfrm>
              <a:off x="4191120" y="3228840"/>
              <a:ext cx="761760" cy="53352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" name="Oval 50"/>
            <p:cNvSpPr/>
            <p:nvPr/>
          </p:nvSpPr>
          <p:spPr>
            <a:xfrm>
              <a:off x="4191120" y="2543040"/>
              <a:ext cx="761760" cy="53352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Text Box 51"/>
            <p:cNvSpPr/>
            <p:nvPr/>
          </p:nvSpPr>
          <p:spPr>
            <a:xfrm>
              <a:off x="1098720" y="448308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3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" name="Text Box 52"/>
            <p:cNvSpPr/>
            <p:nvPr/>
          </p:nvSpPr>
          <p:spPr>
            <a:xfrm>
              <a:off x="2743200" y="447048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3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" name="Text Box 53"/>
            <p:cNvSpPr/>
            <p:nvPr/>
          </p:nvSpPr>
          <p:spPr>
            <a:xfrm>
              <a:off x="4254480" y="448308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2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Text Box 54"/>
            <p:cNvSpPr/>
            <p:nvPr/>
          </p:nvSpPr>
          <p:spPr>
            <a:xfrm>
              <a:off x="5899320" y="448308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Text Box 55"/>
            <p:cNvSpPr/>
            <p:nvPr/>
          </p:nvSpPr>
          <p:spPr>
            <a:xfrm>
              <a:off x="7489800" y="449568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4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" name="Rectangle 56"/>
            <p:cNvSpPr/>
            <p:nvPr/>
          </p:nvSpPr>
          <p:spPr>
            <a:xfrm>
              <a:off x="2428920" y="3784680"/>
              <a:ext cx="1066680" cy="45720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Text Box 60"/>
            <p:cNvSpPr/>
            <p:nvPr/>
          </p:nvSpPr>
          <p:spPr>
            <a:xfrm>
              <a:off x="1066680" y="4943520"/>
              <a:ext cx="7543800" cy="94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800" spc="-1" strike="noStrike">
                  <a:solidFill>
                    <a:srgbClr val="ff3300"/>
                  </a:solidFill>
                  <a:latin typeface="Times New Roman"/>
                </a:rPr>
                <a:t>Viết số : 33 214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800" spc="-1" strike="noStrike">
                  <a:solidFill>
                    <a:srgbClr val="ff3300"/>
                  </a:solidFill>
                  <a:latin typeface="Times New Roman"/>
                </a:rPr>
                <a:t>Đọc số : Ba mươi ba nghìn hai trăm mười bốn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Oval 63"/>
            <p:cNvSpPr/>
            <p:nvPr/>
          </p:nvSpPr>
          <p:spPr>
            <a:xfrm>
              <a:off x="7359480" y="3860640"/>
              <a:ext cx="762120" cy="38124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" name="Group 73"/>
          <p:cNvGrpSpPr/>
          <p:nvPr/>
        </p:nvGrpSpPr>
        <p:grpSpPr>
          <a:xfrm>
            <a:off x="345960" y="546120"/>
            <a:ext cx="3997440" cy="609480"/>
            <a:chOff x="345960" y="546120"/>
            <a:chExt cx="3997440" cy="609480"/>
          </a:xfrm>
        </p:grpSpPr>
        <p:sp>
          <p:nvSpPr>
            <p:cNvPr id="153" name="Oval 67"/>
            <p:cNvSpPr/>
            <p:nvPr/>
          </p:nvSpPr>
          <p:spPr>
            <a:xfrm>
              <a:off x="345960" y="546120"/>
              <a:ext cx="1067040" cy="609480"/>
            </a:xfrm>
            <a:prstGeom prst="ellipse">
              <a:avLst/>
            </a:prstGeom>
            <a:solidFill>
              <a:srgbClr val="ffff99"/>
            </a:solidFill>
            <a:ln w="381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800" spc="-1" strike="noStrike">
                  <a:solidFill>
                    <a:srgbClr val="0000ff"/>
                  </a:solidFill>
                  <a:latin typeface="Times New Roman"/>
                </a:rPr>
                <a:t>1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Text Box 70"/>
            <p:cNvSpPr/>
            <p:nvPr/>
          </p:nvSpPr>
          <p:spPr>
            <a:xfrm>
              <a:off x="1371600" y="546120"/>
              <a:ext cx="297180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74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</a:rPr>
                <a:t>Viết (theo mẫu) :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5" name="Text Box 72"/>
          <p:cNvSpPr/>
          <p:nvPr/>
        </p:nvSpPr>
        <p:spPr>
          <a:xfrm>
            <a:off x="1371600" y="946080"/>
            <a:ext cx="15238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a) Mẫu 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8" dur="indefinite" restart="never" nodeType="tmRoot">
          <p:childTnLst>
            <p:seq>
              <p:cTn id="389" dur="indefinite" nodeType="mainSeq">
                <p:childTnLst>
                  <p:par>
                    <p:cTn id="390" nodeType="clickEffect" fill="hold">
                      <p:stCondLst>
                        <p:cond delay="indefinite"/>
                      </p:stCondLst>
                      <p:childTnLst>
                        <p:par>
                          <p:cTn id="3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2" nodeType="clickEffect" fill="hold" presetClass="entr" presetID="25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4" dur="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5" dur="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6" dur="5" fill="hold">
                                          <p:stCondLst>
                                            <p:cond delay="5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7" dur="1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8" dur="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9" dur="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0" dur="5" fill="hold">
                                          <p:stCondLst>
                                            <p:cond delay="5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01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nodeType="clickEffect" fill="hold">
                      <p:stCondLst>
                        <p:cond delay="indefinite"/>
                      </p:stCondLst>
                      <p:childTnLst>
                        <p:par>
                          <p:cTn id="4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31" repeatCount="1000">
                                  <p:stCondLst>
                                    <p:cond delay="0"/>
                                  </p:stCondLst>
                                  <p:iterate type="lt">
                                    <p:tmAbs val="12.5"/>
                                  </p:iterate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6" dur="2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7" dur="2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2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09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nodeType="clickEffect" fill="hold">
                      <p:stCondLst>
                        <p:cond delay="indefinite"/>
                      </p:stCondLst>
                      <p:childTnLst>
                        <p:par>
                          <p:cTn id="4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2" nodeType="click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14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nodeType="with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17" dur="7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"/>
          <p:cNvGraphicFramePr/>
          <p:nvPr/>
        </p:nvGraphicFramePr>
        <p:xfrm>
          <a:off x="533520" y="635040"/>
          <a:ext cx="8076960" cy="3706920"/>
        </p:xfrm>
        <a:graphic>
          <a:graphicData uri="http://schemas.openxmlformats.org/drawingml/2006/table">
            <a:tbl>
              <a:tblPr/>
              <a:tblGrid>
                <a:gridCol w="1616040"/>
                <a:gridCol w="1614240"/>
                <a:gridCol w="1616400"/>
                <a:gridCol w="1614240"/>
                <a:gridCol w="1616040"/>
              </a:tblGrid>
              <a:tr h="518760">
                <a:tc gridSpan="5"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                     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70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  <a:tr h="228276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  <a:tr h="518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</a:t>
                      </a: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solidFill>
                      <a:srgbClr val="a6eaf8"/>
                    </a:solidFill>
                  </a:tcPr>
                </a:tc>
              </a:tr>
            </a:tbl>
          </a:graphicData>
        </a:graphic>
      </p:graphicFrame>
      <p:grpSp>
        <p:nvGrpSpPr>
          <p:cNvPr id="157" name="Group 91"/>
          <p:cNvGrpSpPr/>
          <p:nvPr/>
        </p:nvGrpSpPr>
        <p:grpSpPr>
          <a:xfrm>
            <a:off x="1066680" y="3882960"/>
            <a:ext cx="7093080" cy="459720"/>
            <a:chOff x="1066680" y="3882960"/>
            <a:chExt cx="7093080" cy="459720"/>
          </a:xfrm>
        </p:grpSpPr>
        <p:sp>
          <p:nvSpPr>
            <p:cNvPr id="158" name="Text Box 77"/>
            <p:cNvSpPr/>
            <p:nvPr/>
          </p:nvSpPr>
          <p:spPr>
            <a:xfrm>
              <a:off x="1066680" y="388296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ff3300"/>
                  </a:solidFill>
                  <a:latin typeface="Times New Roman"/>
                </a:rPr>
                <a:t>2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Text Box 78"/>
            <p:cNvSpPr/>
            <p:nvPr/>
          </p:nvSpPr>
          <p:spPr>
            <a:xfrm>
              <a:off x="2590920" y="388296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ff3300"/>
                  </a:solidFill>
                  <a:latin typeface="Times New Roman"/>
                </a:rPr>
                <a:t>4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Text Box 79"/>
            <p:cNvSpPr/>
            <p:nvPr/>
          </p:nvSpPr>
          <p:spPr>
            <a:xfrm>
              <a:off x="4191120" y="388296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ff3300"/>
                  </a:solidFill>
                  <a:latin typeface="Times New Roman"/>
                </a:rPr>
                <a:t>3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" name="Text Box 80"/>
            <p:cNvSpPr/>
            <p:nvPr/>
          </p:nvSpPr>
          <p:spPr>
            <a:xfrm>
              <a:off x="5867280" y="388296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ff33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ff3300"/>
                  </a:solidFill>
                  <a:latin typeface="Times New Roman"/>
                </a:rPr>
                <a:t>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Text Box 81"/>
            <p:cNvSpPr/>
            <p:nvPr/>
          </p:nvSpPr>
          <p:spPr>
            <a:xfrm>
              <a:off x="7543800" y="3882960"/>
              <a:ext cx="615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ff3300"/>
                  </a:solidFill>
                  <a:latin typeface="Times New Roman"/>
                </a:rPr>
                <a:t>2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3" name="Text Box 83"/>
          <p:cNvSpPr/>
          <p:nvPr/>
        </p:nvSpPr>
        <p:spPr>
          <a:xfrm>
            <a:off x="1066680" y="4492800"/>
            <a:ext cx="754380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3300"/>
                </a:solidFill>
                <a:latin typeface="Times New Roman"/>
              </a:rPr>
              <a:t>Viết số : 24 312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3300"/>
                </a:solidFill>
                <a:latin typeface="Times New Roman"/>
              </a:rPr>
              <a:t>Đọc số : Hai mươi bốn nghìn ba trăm mười hai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4" name="Group 90"/>
          <p:cNvGrpSpPr/>
          <p:nvPr/>
        </p:nvGrpSpPr>
        <p:grpSpPr>
          <a:xfrm>
            <a:off x="479520" y="628560"/>
            <a:ext cx="8258040" cy="3079800"/>
            <a:chOff x="479520" y="628560"/>
            <a:chExt cx="8258040" cy="3079800"/>
          </a:xfrm>
        </p:grpSpPr>
        <p:sp>
          <p:nvSpPr>
            <p:cNvPr id="165" name="Text Box 60"/>
            <p:cNvSpPr/>
            <p:nvPr/>
          </p:nvSpPr>
          <p:spPr>
            <a:xfrm>
              <a:off x="4060800" y="628560"/>
              <a:ext cx="16765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74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</a:rPr>
                <a:t>HÀNG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" name="Text Box 61"/>
            <p:cNvSpPr/>
            <p:nvPr/>
          </p:nvSpPr>
          <p:spPr>
            <a:xfrm>
              <a:off x="479520" y="1079640"/>
              <a:ext cx="22860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Chục nghìn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Text Box 62"/>
            <p:cNvSpPr/>
            <p:nvPr/>
          </p:nvSpPr>
          <p:spPr>
            <a:xfrm>
              <a:off x="2384280" y="1089000"/>
              <a:ext cx="144792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Nghìn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Text Box 63"/>
            <p:cNvSpPr/>
            <p:nvPr/>
          </p:nvSpPr>
          <p:spPr>
            <a:xfrm>
              <a:off x="4133880" y="1069920"/>
              <a:ext cx="144792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Trăm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Text Box 64"/>
            <p:cNvSpPr/>
            <p:nvPr/>
          </p:nvSpPr>
          <p:spPr>
            <a:xfrm>
              <a:off x="5505480" y="1092240"/>
              <a:ext cx="144792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 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Chục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" name="Text Box 65"/>
            <p:cNvSpPr/>
            <p:nvPr/>
          </p:nvSpPr>
          <p:spPr>
            <a:xfrm>
              <a:off x="7290000" y="1069920"/>
              <a:ext cx="14475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Đơn vị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Rectangle 66"/>
            <p:cNvSpPr/>
            <p:nvPr/>
          </p:nvSpPr>
          <p:spPr>
            <a:xfrm>
              <a:off x="669960" y="1701720"/>
              <a:ext cx="1371600" cy="38124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Oval 67"/>
            <p:cNvSpPr/>
            <p:nvPr/>
          </p:nvSpPr>
          <p:spPr>
            <a:xfrm>
              <a:off x="7261200" y="1695600"/>
              <a:ext cx="762120" cy="38088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" name="Oval 68"/>
            <p:cNvSpPr/>
            <p:nvPr/>
          </p:nvSpPr>
          <p:spPr>
            <a:xfrm>
              <a:off x="7292880" y="2152800"/>
              <a:ext cx="762120" cy="38088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Rectangle 70"/>
            <p:cNvSpPr/>
            <p:nvPr/>
          </p:nvSpPr>
          <p:spPr>
            <a:xfrm>
              <a:off x="692280" y="2235240"/>
              <a:ext cx="1371600" cy="38088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</a:rPr>
                <a:t>10 000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Rectangle 73"/>
            <p:cNvSpPr/>
            <p:nvPr/>
          </p:nvSpPr>
          <p:spPr>
            <a:xfrm>
              <a:off x="2460600" y="2162160"/>
              <a:ext cx="1066680" cy="45720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Oval 74"/>
            <p:cNvSpPr/>
            <p:nvPr/>
          </p:nvSpPr>
          <p:spPr>
            <a:xfrm>
              <a:off x="5813280" y="1695600"/>
              <a:ext cx="762120" cy="45720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Oval 75"/>
            <p:cNvSpPr/>
            <p:nvPr/>
          </p:nvSpPr>
          <p:spPr>
            <a:xfrm>
              <a:off x="4213080" y="2282760"/>
              <a:ext cx="762120" cy="53352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" name="Oval 76"/>
            <p:cNvSpPr/>
            <p:nvPr/>
          </p:nvSpPr>
          <p:spPr>
            <a:xfrm>
              <a:off x="4213080" y="1619280"/>
              <a:ext cx="762120" cy="53352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" name="Rectangle 82"/>
            <p:cNvSpPr/>
            <p:nvPr/>
          </p:nvSpPr>
          <p:spPr>
            <a:xfrm>
              <a:off x="2460600" y="2705040"/>
              <a:ext cx="1066680" cy="45720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Rectangle 85"/>
            <p:cNvSpPr/>
            <p:nvPr/>
          </p:nvSpPr>
          <p:spPr>
            <a:xfrm>
              <a:off x="2460600" y="3251160"/>
              <a:ext cx="1066680" cy="45720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" name="Rectangle 86"/>
            <p:cNvSpPr/>
            <p:nvPr/>
          </p:nvSpPr>
          <p:spPr>
            <a:xfrm>
              <a:off x="2460600" y="1628640"/>
              <a:ext cx="1066680" cy="457200"/>
            </a:xfrm>
            <a:prstGeom prst="rect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" name="Oval 89"/>
            <p:cNvSpPr/>
            <p:nvPr/>
          </p:nvSpPr>
          <p:spPr>
            <a:xfrm>
              <a:off x="4213080" y="2914560"/>
              <a:ext cx="762120" cy="53352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</a:rPr>
                <a:t>100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3" name="Text Box 92"/>
          <p:cNvSpPr/>
          <p:nvPr/>
        </p:nvSpPr>
        <p:spPr>
          <a:xfrm>
            <a:off x="762120" y="152280"/>
            <a:ext cx="838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b)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8" dur="indefinite" restart="never" nodeType="tmRoot">
          <p:childTnLst>
            <p:seq>
              <p:cTn id="419" dur="indefinite" nodeType="mainSeq">
                <p:childTnLst>
                  <p:par>
                    <p:cTn id="420" nodeType="clickEffect" fill="hold">
                      <p:stCondLst>
                        <p:cond delay="indefinite"/>
                      </p:stCondLst>
                      <p:childTnLst>
                        <p:par>
                          <p:cTn id="4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nodeType="with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427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nodeType="clickEffect" fill="hold">
                      <p:stCondLst>
                        <p:cond delay="indefinite"/>
                      </p:stCondLst>
                      <p:childTnLst>
                        <p:par>
                          <p:cTn id="4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nodeType="clickEffect" fill="hold">
                      <p:stCondLst>
                        <p:cond delay="indefinite"/>
                      </p:stCondLst>
                      <p:childTnLst>
                        <p:par>
                          <p:cTn id="4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nodeType="clickEffect" fill="hold">
                      <p:stCondLst>
                        <p:cond delay="indefinite"/>
                      </p:stCondLst>
                      <p:childTnLst>
                        <p:par>
                          <p:cTn id="4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4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"/>
          <p:cNvGraphicFramePr/>
          <p:nvPr/>
        </p:nvGraphicFramePr>
        <p:xfrm>
          <a:off x="266760" y="939960"/>
          <a:ext cx="8610480" cy="5089320"/>
        </p:xfrm>
        <a:graphic>
          <a:graphicData uri="http://schemas.openxmlformats.org/drawingml/2006/table">
            <a:tbl>
              <a:tblPr/>
              <a:tblGrid>
                <a:gridCol w="799920"/>
                <a:gridCol w="876600"/>
                <a:gridCol w="914400"/>
                <a:gridCol w="914400"/>
                <a:gridCol w="838080"/>
                <a:gridCol w="952560"/>
                <a:gridCol w="3314520"/>
              </a:tblGrid>
              <a:tr h="518760">
                <a:tc gridSpan="5"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             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</a:tr>
              <a:tr h="76032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6356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</a:tr>
              <a:tr h="76212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</a:tr>
              <a:tr h="76356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</a:tr>
              <a:tr h="76032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</a:tr>
              <a:tr h="76068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3300"/>
                      </a:solidFill>
                      <a:prstDash val="solid"/>
                    </a:lnL>
                    <a:lnR w="5760">
                      <a:solidFill>
                        <a:srgbClr val="ff3300"/>
                      </a:solidFill>
                      <a:prstDash val="solid"/>
                    </a:lnR>
                    <a:lnT w="5760">
                      <a:solidFill>
                        <a:srgbClr val="ff3300"/>
                      </a:solidFill>
                      <a:prstDash val="solid"/>
                    </a:lnT>
                    <a:lnB w="5760">
                      <a:solidFill>
                        <a:srgbClr val="ff33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5" name="Text Box 144"/>
          <p:cNvSpPr/>
          <p:nvPr/>
        </p:nvSpPr>
        <p:spPr>
          <a:xfrm>
            <a:off x="314280" y="1495440"/>
            <a:ext cx="8380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Chục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nghìn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Box 145"/>
          <p:cNvSpPr/>
          <p:nvPr/>
        </p:nvSpPr>
        <p:spPr>
          <a:xfrm>
            <a:off x="1152360" y="1647720"/>
            <a:ext cx="914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Nghìn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Box 146"/>
          <p:cNvSpPr/>
          <p:nvPr/>
        </p:nvSpPr>
        <p:spPr>
          <a:xfrm>
            <a:off x="5554800" y="2187720"/>
            <a:ext cx="31845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ff"/>
                </a:solidFill>
                <a:latin typeface="Times New Roman"/>
              </a:rPr>
              <a:t>Sáu mươi tám nghìn ba trăm năm mươi hai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Box 150"/>
          <p:cNvSpPr/>
          <p:nvPr/>
        </p:nvSpPr>
        <p:spPr>
          <a:xfrm>
            <a:off x="4581360" y="2362320"/>
            <a:ext cx="129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ff"/>
                </a:solidFill>
                <a:latin typeface="Times New Roman"/>
              </a:rPr>
              <a:t>68 352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Box 161"/>
          <p:cNvSpPr/>
          <p:nvPr/>
        </p:nvSpPr>
        <p:spPr>
          <a:xfrm>
            <a:off x="1990800" y="1647720"/>
            <a:ext cx="914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Trăm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Box 162"/>
          <p:cNvSpPr/>
          <p:nvPr/>
        </p:nvSpPr>
        <p:spPr>
          <a:xfrm>
            <a:off x="2905200" y="1679400"/>
            <a:ext cx="914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Chục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Box 163"/>
          <p:cNvSpPr/>
          <p:nvPr/>
        </p:nvSpPr>
        <p:spPr>
          <a:xfrm>
            <a:off x="3720960" y="1724040"/>
            <a:ext cx="914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Đơn vị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Box 164"/>
          <p:cNvSpPr/>
          <p:nvPr/>
        </p:nvSpPr>
        <p:spPr>
          <a:xfrm>
            <a:off x="1838160" y="961920"/>
            <a:ext cx="12956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HÀNG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Box 165"/>
          <p:cNvSpPr/>
          <p:nvPr/>
        </p:nvSpPr>
        <p:spPr>
          <a:xfrm>
            <a:off x="4576680" y="1171440"/>
            <a:ext cx="10670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VIẾT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SỐ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Box 166"/>
          <p:cNvSpPr/>
          <p:nvPr/>
        </p:nvSpPr>
        <p:spPr>
          <a:xfrm>
            <a:off x="6486480" y="1343160"/>
            <a:ext cx="1828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ĐỌC SỐ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Box 275"/>
          <p:cNvSpPr/>
          <p:nvPr/>
        </p:nvSpPr>
        <p:spPr>
          <a:xfrm>
            <a:off x="4006800" y="459432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6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Box 276"/>
          <p:cNvSpPr/>
          <p:nvPr/>
        </p:nvSpPr>
        <p:spPr>
          <a:xfrm>
            <a:off x="3114720" y="533412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Box 277"/>
          <p:cNvSpPr/>
          <p:nvPr/>
        </p:nvSpPr>
        <p:spPr>
          <a:xfrm>
            <a:off x="479520" y="307008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Box 278"/>
          <p:cNvSpPr/>
          <p:nvPr/>
        </p:nvSpPr>
        <p:spPr>
          <a:xfrm>
            <a:off x="1295280" y="233028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Box 279"/>
          <p:cNvSpPr/>
          <p:nvPr/>
        </p:nvSpPr>
        <p:spPr>
          <a:xfrm>
            <a:off x="3092400" y="381960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6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Box 280"/>
          <p:cNvSpPr/>
          <p:nvPr/>
        </p:nvSpPr>
        <p:spPr>
          <a:xfrm>
            <a:off x="3124080" y="312408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Box 281"/>
          <p:cNvSpPr/>
          <p:nvPr/>
        </p:nvSpPr>
        <p:spPr>
          <a:xfrm>
            <a:off x="501480" y="537840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Box 282"/>
          <p:cNvSpPr/>
          <p:nvPr/>
        </p:nvSpPr>
        <p:spPr>
          <a:xfrm>
            <a:off x="2200320" y="385452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Box 283"/>
          <p:cNvSpPr/>
          <p:nvPr/>
        </p:nvSpPr>
        <p:spPr>
          <a:xfrm>
            <a:off x="2209680" y="2317680"/>
            <a:ext cx="304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Box 284"/>
          <p:cNvSpPr/>
          <p:nvPr/>
        </p:nvSpPr>
        <p:spPr>
          <a:xfrm>
            <a:off x="3114720" y="237636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Box 285"/>
          <p:cNvSpPr/>
          <p:nvPr/>
        </p:nvSpPr>
        <p:spPr>
          <a:xfrm>
            <a:off x="1273320" y="310212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Box 286"/>
          <p:cNvSpPr/>
          <p:nvPr/>
        </p:nvSpPr>
        <p:spPr>
          <a:xfrm>
            <a:off x="501480" y="460368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Box 287"/>
          <p:cNvSpPr/>
          <p:nvPr/>
        </p:nvSpPr>
        <p:spPr>
          <a:xfrm>
            <a:off x="1285920" y="537840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Box 288"/>
          <p:cNvSpPr/>
          <p:nvPr/>
        </p:nvSpPr>
        <p:spPr>
          <a:xfrm>
            <a:off x="3984480" y="235260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Box 289"/>
          <p:cNvSpPr/>
          <p:nvPr/>
        </p:nvSpPr>
        <p:spPr>
          <a:xfrm>
            <a:off x="469800" y="384192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9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Box 290"/>
          <p:cNvSpPr/>
          <p:nvPr/>
        </p:nvSpPr>
        <p:spPr>
          <a:xfrm>
            <a:off x="1263600" y="383220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Box 291"/>
          <p:cNvSpPr/>
          <p:nvPr/>
        </p:nvSpPr>
        <p:spPr>
          <a:xfrm>
            <a:off x="3930480" y="307008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7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Box 292"/>
          <p:cNvSpPr/>
          <p:nvPr/>
        </p:nvSpPr>
        <p:spPr>
          <a:xfrm>
            <a:off x="479520" y="233028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6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Box 293"/>
          <p:cNvSpPr/>
          <p:nvPr/>
        </p:nvSpPr>
        <p:spPr>
          <a:xfrm>
            <a:off x="2190600" y="307008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Box 294"/>
          <p:cNvSpPr/>
          <p:nvPr/>
        </p:nvSpPr>
        <p:spPr>
          <a:xfrm>
            <a:off x="2200320" y="459432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Box 295"/>
          <p:cNvSpPr/>
          <p:nvPr/>
        </p:nvSpPr>
        <p:spPr>
          <a:xfrm>
            <a:off x="3997440" y="532440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Box 296"/>
          <p:cNvSpPr/>
          <p:nvPr/>
        </p:nvSpPr>
        <p:spPr>
          <a:xfrm>
            <a:off x="3962520" y="380988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Box 298"/>
          <p:cNvSpPr/>
          <p:nvPr/>
        </p:nvSpPr>
        <p:spPr>
          <a:xfrm>
            <a:off x="1263600" y="459432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7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Box 299"/>
          <p:cNvSpPr/>
          <p:nvPr/>
        </p:nvSpPr>
        <p:spPr>
          <a:xfrm>
            <a:off x="3092400" y="457200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Box 300"/>
          <p:cNvSpPr/>
          <p:nvPr/>
        </p:nvSpPr>
        <p:spPr>
          <a:xfrm>
            <a:off x="2222640" y="5334120"/>
            <a:ext cx="457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Box 301"/>
          <p:cNvSpPr/>
          <p:nvPr/>
        </p:nvSpPr>
        <p:spPr>
          <a:xfrm>
            <a:off x="4597560" y="3886200"/>
            <a:ext cx="1295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94 361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Box 302"/>
          <p:cNvSpPr/>
          <p:nvPr/>
        </p:nvSpPr>
        <p:spPr>
          <a:xfrm>
            <a:off x="4559400" y="3124080"/>
            <a:ext cx="1295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35 187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Box 303"/>
          <p:cNvSpPr/>
          <p:nvPr/>
        </p:nvSpPr>
        <p:spPr>
          <a:xfrm>
            <a:off x="5549760" y="2971800"/>
            <a:ext cx="35053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Ba mươi lăm nghìn một trăm tám mươi bảy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Box 304"/>
          <p:cNvSpPr/>
          <p:nvPr/>
        </p:nvSpPr>
        <p:spPr>
          <a:xfrm>
            <a:off x="4572000" y="5410080"/>
            <a:ext cx="1295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15 411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Box 305"/>
          <p:cNvSpPr/>
          <p:nvPr/>
        </p:nvSpPr>
        <p:spPr>
          <a:xfrm>
            <a:off x="4572000" y="4648320"/>
            <a:ext cx="1295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57 136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Box 306"/>
          <p:cNvSpPr/>
          <p:nvPr/>
        </p:nvSpPr>
        <p:spPr>
          <a:xfrm>
            <a:off x="5591160" y="3733920"/>
            <a:ext cx="35053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Chín mươi bốn nghìn ba trăm sáu mươi mốt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Box 308"/>
          <p:cNvSpPr/>
          <p:nvPr/>
        </p:nvSpPr>
        <p:spPr>
          <a:xfrm>
            <a:off x="5591160" y="4448160"/>
            <a:ext cx="35053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Năm mươi bảy nghìn một trăm ba mươi sáu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Box 309"/>
          <p:cNvSpPr/>
          <p:nvPr/>
        </p:nvSpPr>
        <p:spPr>
          <a:xfrm>
            <a:off x="5586480" y="5249880"/>
            <a:ext cx="29718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3300"/>
                </a:solidFill>
                <a:latin typeface="Times New Roman"/>
              </a:rPr>
              <a:t>Mười lăm nghìn bốn trăm mười một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Oval 311"/>
          <p:cNvSpPr/>
          <p:nvPr/>
        </p:nvSpPr>
        <p:spPr>
          <a:xfrm>
            <a:off x="166680" y="233280"/>
            <a:ext cx="1066680" cy="609840"/>
          </a:xfrm>
          <a:prstGeom prst="ellipse">
            <a:avLst/>
          </a:prstGeom>
          <a:solidFill>
            <a:srgbClr val="ffff99"/>
          </a:solidFill>
          <a:ln w="3816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Box 312"/>
          <p:cNvSpPr/>
          <p:nvPr/>
        </p:nvSpPr>
        <p:spPr>
          <a:xfrm>
            <a:off x="1905120" y="152280"/>
            <a:ext cx="25905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Box 313"/>
          <p:cNvSpPr/>
          <p:nvPr/>
        </p:nvSpPr>
        <p:spPr>
          <a:xfrm>
            <a:off x="1295280" y="380880"/>
            <a:ext cx="2819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Viết (theo mẫu) 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6" dur="indefinite" restart="never" nodeType="tmRoot">
          <p:childTnLst>
            <p:seq>
              <p:cTn id="447" dur="indefinite" nodeType="mainSeq">
                <p:childTnLst>
                  <p:par>
                    <p:cTn id="448" nodeType="clickEffect" fill="hold">
                      <p:stCondLst>
                        <p:cond delay="indefinite"/>
                      </p:stCondLst>
                      <p:childTnLst>
                        <p:par>
                          <p:cTn id="4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click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5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5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6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5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4" nodeType="with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6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1" nodeType="with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47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6"/>
          <p:cNvGrpSpPr/>
          <p:nvPr/>
        </p:nvGrpSpPr>
        <p:grpSpPr>
          <a:xfrm>
            <a:off x="111240" y="152280"/>
            <a:ext cx="9032400" cy="609480"/>
            <a:chOff x="111240" y="152280"/>
            <a:chExt cx="9032400" cy="609480"/>
          </a:xfrm>
        </p:grpSpPr>
        <p:sp>
          <p:nvSpPr>
            <p:cNvPr id="232" name="Oval 4"/>
            <p:cNvSpPr/>
            <p:nvPr/>
          </p:nvSpPr>
          <p:spPr>
            <a:xfrm>
              <a:off x="111240" y="152280"/>
              <a:ext cx="1241640" cy="609480"/>
            </a:xfrm>
            <a:prstGeom prst="ellipse">
              <a:avLst/>
            </a:prstGeom>
            <a:solidFill>
              <a:srgbClr val="ffff99"/>
            </a:solidFill>
            <a:ln w="381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800" spc="-1" strike="noStrike">
                  <a:solidFill>
                    <a:srgbClr val="0000ff"/>
                  </a:solidFill>
                  <a:latin typeface="Times New Roman"/>
                </a:rPr>
                <a:t>3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" name="Text Box 5"/>
            <p:cNvSpPr/>
            <p:nvPr/>
          </p:nvSpPr>
          <p:spPr>
            <a:xfrm>
              <a:off x="1425240" y="228600"/>
              <a:ext cx="771840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74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</a:rPr>
                <a:t>Đọc các số : 23 166 ; 12 427 ; 3 116 ; 82 427. 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4" name="Text Box 7"/>
          <p:cNvSpPr/>
          <p:nvPr/>
        </p:nvSpPr>
        <p:spPr>
          <a:xfrm>
            <a:off x="517680" y="990720"/>
            <a:ext cx="83818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- Số 23 166 Đọc là : Hai mươi ba nghìn một trăm sáu mươi sáu.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Box 8"/>
          <p:cNvSpPr/>
          <p:nvPr/>
        </p:nvSpPr>
        <p:spPr>
          <a:xfrm>
            <a:off x="517680" y="1905120"/>
            <a:ext cx="83818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- Số 12 427 Đọc là : Mười hai nghìn bốn trăm hai mươi bảy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Box 9"/>
          <p:cNvSpPr/>
          <p:nvPr/>
        </p:nvSpPr>
        <p:spPr>
          <a:xfrm>
            <a:off x="517680" y="2819520"/>
            <a:ext cx="83818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- Số 3 116 Đọc là : Ba nghìn một trăm mười sáu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Box 10"/>
          <p:cNvSpPr/>
          <p:nvPr/>
        </p:nvSpPr>
        <p:spPr>
          <a:xfrm>
            <a:off x="533520" y="3276720"/>
            <a:ext cx="83818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0000ff"/>
                </a:solidFill>
                <a:latin typeface="Times New Roman"/>
              </a:rPr>
              <a:t>- Số 82 427 Đọc là : Tám mươi hai nghìn bốn trăm hai mươi bảy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traight Connector 3"/>
          <p:cNvSpPr/>
          <p:nvPr/>
        </p:nvSpPr>
        <p:spPr>
          <a:xfrm>
            <a:off x="3429000" y="706320"/>
            <a:ext cx="990720" cy="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traight Connector 10"/>
          <p:cNvSpPr/>
          <p:nvPr/>
        </p:nvSpPr>
        <p:spPr>
          <a:xfrm>
            <a:off x="5867280" y="676440"/>
            <a:ext cx="990720" cy="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 4"/>
          <p:cNvSpPr/>
          <p:nvPr/>
        </p:nvSpPr>
        <p:spPr>
          <a:xfrm>
            <a:off x="4579920" y="228600"/>
            <a:ext cx="12459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</a:rPr>
              <a:t>12 427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12"/>
          <p:cNvSpPr/>
          <p:nvPr/>
        </p:nvSpPr>
        <p:spPr>
          <a:xfrm>
            <a:off x="6941880" y="228600"/>
            <a:ext cx="11559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82 427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8" dur="indefinite" restart="never" nodeType="tmRoot">
          <p:childTnLst>
            <p:seq>
              <p:cTn id="479" dur="indefinite" nodeType="mainSeq">
                <p:childTnLst>
                  <p:par>
                    <p:cTn id="480" nodeType="clickEffect" fill="hold">
                      <p:stCondLst>
                        <p:cond delay="indefinite"/>
                      </p:stCondLst>
                      <p:childTnLst>
                        <p:par>
                          <p:cTn id="4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6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7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0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9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nodeType="clickEffect" fill="hold">
                      <p:stCondLst>
                        <p:cond delay="indefinite"/>
                      </p:stCondLst>
                      <p:childTnLst>
                        <p:par>
                          <p:cTn id="4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4" nodeType="clickEffect" fill="hold" presetClass="entr" presetID="55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6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7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98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nodeType="withEffect" fill="hold" presetClass="entr" presetID="55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1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2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0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nodeType="withEffect" fill="hold" presetClass="entr" presetID="55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6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7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0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nodeType="withEffect" fill="hold" presetClass="entr" presetID="55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1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2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1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nodeType="clickEffect" fill="hold">
                      <p:stCondLst>
                        <p:cond delay="indefinite"/>
                      </p:stCondLst>
                      <p:childTnLst>
                        <p:par>
                          <p:cTn id="5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6" nodeType="click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51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nodeType="withEffect" fill="hold" presetClass="entr" presetID="6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52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nodeType="clickEffect" fill="hold">
                      <p:stCondLst>
                        <p:cond delay="indefinite"/>
                      </p:stCondLst>
                      <p:childTnLst>
                        <p:par>
                          <p:cTn id="5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6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27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8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1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32" dur="1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3" dur="1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Box 7"/>
          <p:cNvSpPr/>
          <p:nvPr/>
        </p:nvSpPr>
        <p:spPr>
          <a:xfrm>
            <a:off x="1066680" y="1528920"/>
            <a:ext cx="60962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</a:rPr>
              <a:t>(Xem sách trang 140)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Box 8"/>
          <p:cNvSpPr/>
          <p:nvPr/>
        </p:nvSpPr>
        <p:spPr>
          <a:xfrm>
            <a:off x="1219320" y="2057400"/>
            <a:ext cx="60958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ff3300"/>
                </a:solidFill>
                <a:latin typeface="Times New Roman"/>
              </a:rPr>
              <a:t>Chuẩn bị bài sau 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ff3300"/>
                </a:solidFill>
                <a:latin typeface="Times New Roman"/>
              </a:rPr>
              <a:t>Luyện tập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Line 9"/>
          <p:cNvSpPr/>
          <p:nvPr/>
        </p:nvSpPr>
        <p:spPr>
          <a:xfrm>
            <a:off x="1600200" y="3581280"/>
            <a:ext cx="6095880" cy="0"/>
          </a:xfrm>
          <a:prstGeom prst="line">
            <a:avLst/>
          </a:prstGeom>
          <a:ln w="2844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5" name="Group 12"/>
          <p:cNvGrpSpPr/>
          <p:nvPr/>
        </p:nvGrpSpPr>
        <p:grpSpPr>
          <a:xfrm>
            <a:off x="-720" y="3809520"/>
            <a:ext cx="9144360" cy="3047400"/>
            <a:chOff x="-720" y="3809520"/>
            <a:chExt cx="9144360" cy="3047400"/>
          </a:xfrm>
        </p:grpSpPr>
        <p:pic>
          <p:nvPicPr>
            <p:cNvPr id="246" name="Picture 10" descr="1440x900_High_resolution_flower_art_204261"/>
            <p:cNvPicPr/>
            <p:nvPr/>
          </p:nvPicPr>
          <p:blipFill>
            <a:blip r:embed="rId2"/>
            <a:stretch/>
          </p:blipFill>
          <p:spPr>
            <a:xfrm rot="10800000">
              <a:off x="4419360" y="3809520"/>
              <a:ext cx="4724280" cy="3047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47" name="Picture 11" descr="1440x900_High_resolution_flower_art_204261"/>
            <p:cNvPicPr/>
            <p:nvPr/>
          </p:nvPicPr>
          <p:blipFill>
            <a:blip r:embed="rId3"/>
            <a:stretch/>
          </p:blipFill>
          <p:spPr>
            <a:xfrm flipH="1" rot="10800000">
              <a:off x="-720" y="3809520"/>
              <a:ext cx="4724280" cy="30474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4" dur="indefinite" restart="never" nodeType="tmRoot">
          <p:childTnLst>
            <p:seq>
              <p:cTn id="535" dur="indefinite" nodeType="mainSeq">
                <p:childTnLst>
                  <p:par>
                    <p:cTn id="536" nodeType="clickEffect" fill="hold">
                      <p:stCondLst>
                        <p:cond delay="indefinite"/>
                      </p:stCondLst>
                      <p:childTnLst>
                        <p:par>
                          <p:cTn id="5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8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2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3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6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nodeType="clickEffect" fill="hold">
                      <p:stCondLst>
                        <p:cond delay="indefinite"/>
                      </p:stCondLst>
                      <p:childTnLst>
                        <p:par>
                          <p:cTn id="5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0" nodeType="clickEffect" fill="hold" presetClass="entr" presetID="21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4)" transition="in">
                                      <p:cBhvr additive="repl">
                                        <p:cTn id="552" dur="2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5"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2" descr="blumen-pflanzen085"/>
          <p:cNvPicPr/>
          <p:nvPr/>
        </p:nvPicPr>
        <p:blipFill>
          <a:blip r:embed="rId2"/>
          <a:stretch/>
        </p:blipFill>
        <p:spPr>
          <a:xfrm>
            <a:off x="2209680" y="2133720"/>
            <a:ext cx="3733920" cy="2438280"/>
          </a:xfrm>
          <a:prstGeom prst="rect">
            <a:avLst/>
          </a:prstGeom>
          <a:ln w="0">
            <a:noFill/>
          </a:ln>
        </p:spPr>
      </p:pic>
      <p:pic>
        <p:nvPicPr>
          <p:cNvPr id="249" name="Picture 6" descr="WhitecornerFlower"/>
          <p:cNvPicPr/>
          <p:nvPr/>
        </p:nvPicPr>
        <p:blipFill>
          <a:blip r:embed="rId3"/>
          <a:stretch/>
        </p:blipFill>
        <p:spPr>
          <a:xfrm>
            <a:off x="6019920" y="0"/>
            <a:ext cx="3276360" cy="3200400"/>
          </a:xfrm>
          <a:prstGeom prst="rect">
            <a:avLst/>
          </a:prstGeom>
          <a:ln w="0">
            <a:noFill/>
          </a:ln>
        </p:spPr>
      </p:pic>
      <p:pic>
        <p:nvPicPr>
          <p:cNvPr id="250" name="Picture 7" descr="WhitecornerFlower"/>
          <p:cNvPicPr/>
          <p:nvPr/>
        </p:nvPicPr>
        <p:blipFill>
          <a:blip r:embed="rId4"/>
          <a:stretch/>
        </p:blipFill>
        <p:spPr>
          <a:xfrm>
            <a:off x="0" y="0"/>
            <a:ext cx="3295800" cy="2971800"/>
          </a:xfrm>
          <a:prstGeom prst="rect">
            <a:avLst/>
          </a:prstGeom>
          <a:ln w="0">
            <a:noFill/>
          </a:ln>
        </p:spPr>
      </p:pic>
      <p:pic>
        <p:nvPicPr>
          <p:cNvPr id="251" name="Picture 9" descr="WhitecornerFlower"/>
          <p:cNvPicPr/>
          <p:nvPr/>
        </p:nvPicPr>
        <p:blipFill>
          <a:blip r:embed="rId5"/>
          <a:stretch/>
        </p:blipFill>
        <p:spPr>
          <a:xfrm flipH="1" rot="5305200">
            <a:off x="6048000" y="3806640"/>
            <a:ext cx="2743200" cy="3410280"/>
          </a:xfrm>
          <a:prstGeom prst="rect">
            <a:avLst/>
          </a:prstGeom>
          <a:ln w="0">
            <a:noFill/>
          </a:ln>
        </p:spPr>
      </p:pic>
      <p:pic>
        <p:nvPicPr>
          <p:cNvPr id="252" name="Picture 10" descr="WhitecornerFlower"/>
          <p:cNvPicPr/>
          <p:nvPr/>
        </p:nvPicPr>
        <p:blipFill>
          <a:blip r:embed="rId6"/>
          <a:stretch/>
        </p:blipFill>
        <p:spPr>
          <a:xfrm>
            <a:off x="-76320" y="4114800"/>
            <a:ext cx="3124440" cy="2743200"/>
          </a:xfrm>
          <a:prstGeom prst="rect">
            <a:avLst/>
          </a:prstGeom>
          <a:ln w="0">
            <a:noFill/>
          </a:ln>
        </p:spPr>
      </p:pic>
      <p:sp>
        <p:nvSpPr>
          <p:cNvPr id="253" name="WordArt 11"/>
          <p:cNvSpPr txBox="1"/>
          <p:nvPr/>
        </p:nvSpPr>
        <p:spPr>
          <a:xfrm>
            <a:off x="1143000" y="914400"/>
            <a:ext cx="7067520" cy="961920"/>
          </a:xfrm>
          <a:prstGeom prst="rect">
            <a:avLst/>
          </a:prstGeom>
        </p:spPr>
        <p:txBody>
          <a:bodyPr wrap="none" lIns="90000" rIns="90000" tIns="46800" bIns="46800" anchor="t" anchorCtr="1">
            <a:prstTxWarp prst="textDoubleWave1">
              <a:avLst>
                <a:gd name="adj1" fmla="val 6481"/>
                <a:gd name="adj2" fmla="val 0"/>
              </a:avLst>
            </a:prstTxWarp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pc="1" strike="noStrike">
                <a:ln w="12600">
                  <a:solidFill>
                    <a:srgbClr val="ffff00"/>
                  </a:solidFill>
                  <a:miter/>
                </a:ln>
                <a:solidFill>
                  <a:srgbClr val="0000ff"/>
                </a:solidFill>
                <a:effectLst>
                  <a:outerShdw dist="153753" dir="2700000" blurRad="0" rotWithShape="0">
                    <a:srgbClr val="c0c0c0">
                      <a:alpha val="80000"/>
                    </a:srgbClr>
                  </a:outerShdw>
                </a:effectLst>
                <a:latin typeface="Times New Roman"/>
              </a:rPr>
              <a:t>Chúc thầy, cô và các em sức khỏe</a:t>
            </a:r>
            <a:endParaRPr b="1" i="1" lang="en-US" sz="4000" spc="1" strike="noStrike">
              <a:ln w="12600">
                <a:solidFill>
                  <a:srgbClr val="ffff00"/>
                </a:solidFill>
                <a:miter/>
              </a:ln>
              <a:solidFill>
                <a:srgbClr val="0000ff"/>
              </a:solidFill>
              <a:effectLst>
                <a:outerShdw dist="153753" dir="2700000" blurRad="0" rotWithShape="0">
                  <a:srgbClr val="c0c0c0">
                    <a:alpha val="80000"/>
                  </a:srgbClr>
                </a:outerShdw>
              </a:effectLst>
              <a:latin typeface="Times New Roman"/>
              <a:ea typeface="Times New Roman"/>
            </a:endParaRPr>
          </a:p>
        </p:txBody>
      </p:sp>
      <p:sp>
        <p:nvSpPr>
          <p:cNvPr id="254" name="WordArt 12"/>
          <p:cNvSpPr txBox="1"/>
          <p:nvPr/>
        </p:nvSpPr>
        <p:spPr>
          <a:xfrm>
            <a:off x="1676520" y="4724280"/>
            <a:ext cx="4400280" cy="1298520"/>
          </a:xfrm>
          <a:prstGeom prst="rect">
            <a:avLst/>
          </a:prstGeom>
        </p:spPr>
        <p:txBody>
          <a:bodyPr wrap="none" lIns="90000" rIns="90000" tIns="46800" bIns="46800" anchor="t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6000" spc="1" strike="noStrike">
                <a:ln w="9360">
                  <a:solidFill>
                    <a:srgbClr val="000000"/>
                  </a:solidFill>
                  <a:miter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/>
                </a:gradFill>
                <a:latin typeface="Times New Roman"/>
              </a:rPr>
              <a:t>Chào tạm biệt</a:t>
            </a:r>
            <a:endParaRPr b="1" i="1" lang="en-US" sz="6000" spc="1" strike="noStrike">
              <a:ln w="9360">
                <a:solidFill>
                  <a:srgbClr val="000000"/>
                </a:solidFill>
                <a:miter/>
              </a:ln>
              <a:gradFill rotWithShape="0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/>
              </a:gradFill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6" dur="indefinite" restart="never" nodeType="tmRoot">
          <p:childTnLst>
            <p:seq>
              <p:cTn id="557" dur="indefinite" nodeType="mainSeq">
                <p:childTnLst>
                  <p:par>
                    <p:cTn id="558" nodeType="clickEffect" fill="hold">
                      <p:stCondLst>
                        <p:cond delay="0"/>
                      </p:stCondLst>
                      <p:childTnLst>
                        <p:par>
                          <p:cTn id="5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0" nodeType="withEffect" fill="hold" presetClass="entr" presetID="21" presetSubtype="4" repeatCount="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4)" transition="in">
                                      <p:cBhvr additive="repl">
                                        <p:cTn id="562" dur="2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nodeType="withEffect" fill="hold" presetClass="entr" presetID="21" presetSubtype="4" repeatCount="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4)" transition="in">
                                      <p:cBhvr additive="repl">
                                        <p:cTn id="565" dur="2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2006-01-02T00:22:41Z</dcterms:created>
  <dc:creator>dht</dc:creator>
  <dc:description/>
  <dc:language>en-US</dc:language>
  <cp:lastModifiedBy>ismail - [2010]</cp:lastModifiedBy>
  <dcterms:modified xsi:type="dcterms:W3CDTF">2019-01-29T02:08:05Z</dcterms:modified>
  <cp:revision>78</cp:revision>
  <dc:subject/>
  <dc:title>Slide 1</dc:title>
</cp:coreProperties>
</file>